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60b7de68234b7f" /><Relationship Type="http://schemas.openxmlformats.org/officeDocument/2006/relationships/extended-properties" Target="/docProps/app.xml" Id="R59ad4e458b464f30" /><Relationship Type="http://schemas.openxmlformats.org/officeDocument/2006/relationships/officeDocument" Target="/ppt/presentation.xml" Id="R988b1afc27034140" /></Relationships>
</file>

<file path=ppt/presentation.xml><?xml version="1.0" encoding="utf-8"?>
<p:presentation xmlns:p="http://schemas.openxmlformats.org/presentationml/2006/main">
  <p:sldMasterIdLst>
    <p:sldMasterId xmlns:r="http://schemas.openxmlformats.org/officeDocument/2006/relationships" id="2147483648" r:id="Raa1bd208119348ab"/>
  </p:sldMasterIdLst>
  <p:notesMasterIdLst>
    <p:notesMasterId xmlns:r="http://schemas.openxmlformats.org/officeDocument/2006/relationships" r:id="Rd0145800a0864f55"/>
  </p:notesMasterIdLst>
  <p:sldIdLst>
    <p:sldId xmlns:r="http://schemas.openxmlformats.org/officeDocument/2006/relationships" id="256" r:id="R996f785c3b6546be"/>
    <p:sldId xmlns:r="http://schemas.openxmlformats.org/officeDocument/2006/relationships" id="257" r:id="R13baa545d69b4b92"/>
    <p:sldId xmlns:r="http://schemas.openxmlformats.org/officeDocument/2006/relationships" id="258" r:id="R6acd6a9b2db043ae"/>
    <p:sldId xmlns:r="http://schemas.openxmlformats.org/officeDocument/2006/relationships" id="259" r:id="R3b3e6f476d754ff6"/>
    <p:sldId xmlns:r="http://schemas.openxmlformats.org/officeDocument/2006/relationships" id="260" r:id="R0d4c029888434506"/>
    <p:sldId xmlns:r="http://schemas.openxmlformats.org/officeDocument/2006/relationships" id="261" r:id="R72f9f3c88c8043fa"/>
    <p:sldId xmlns:r="http://schemas.openxmlformats.org/officeDocument/2006/relationships" id="262" r:id="Rf57f3ee499584b16"/>
    <p:sldId xmlns:r="http://schemas.openxmlformats.org/officeDocument/2006/relationships" id="263" r:id="R024ea815146944c9"/>
    <p:sldId xmlns:r="http://schemas.openxmlformats.org/officeDocument/2006/relationships" id="264" r:id="Rc96b70f7600b41ae"/>
    <p:sldId xmlns:r="http://schemas.openxmlformats.org/officeDocument/2006/relationships" id="265" r:id="Rc5e8477b97724d65"/>
    <p:sldId xmlns:r="http://schemas.openxmlformats.org/officeDocument/2006/relationships" id="266" r:id="R407f59bf0fce4336"/>
    <p:sldId xmlns:r="http://schemas.openxmlformats.org/officeDocument/2006/relationships" id="267" r:id="R97f6475ee1a244a6"/>
    <p:sldId xmlns:r="http://schemas.openxmlformats.org/officeDocument/2006/relationships" id="268" r:id="Ra3e2e40d87a54a48"/>
    <p:sldId xmlns:r="http://schemas.openxmlformats.org/officeDocument/2006/relationships" id="269" r:id="R459b48ae97c54bb2"/>
    <p:sldId xmlns:r="http://schemas.openxmlformats.org/officeDocument/2006/relationships" id="270" r:id="Rd78c9bff778f4f3d"/>
    <p:sldId xmlns:r="http://schemas.openxmlformats.org/officeDocument/2006/relationships" id="271" r:id="Rbda851aaac8d492d"/>
    <p:sldId xmlns:r="http://schemas.openxmlformats.org/officeDocument/2006/relationships" id="272" r:id="Re5ef5f01a5f9400b"/>
    <p:sldId xmlns:r="http://schemas.openxmlformats.org/officeDocument/2006/relationships" id="273" r:id="R9d1bf5b1840843c2"/>
    <p:sldId xmlns:r="http://schemas.openxmlformats.org/officeDocument/2006/relationships" id="274" r:id="R744c9b8a75a2499d"/>
    <p:sldId xmlns:r="http://schemas.openxmlformats.org/officeDocument/2006/relationships" id="275" r:id="R6dd8efd1ec86444f"/>
    <p:sldId xmlns:r="http://schemas.openxmlformats.org/officeDocument/2006/relationships" id="276" r:id="R98812835644d4fc3"/>
    <p:sldId xmlns:r="http://schemas.openxmlformats.org/officeDocument/2006/relationships" id="277" r:id="R78a4466d8ded4131"/>
    <p:sldId xmlns:r="http://schemas.openxmlformats.org/officeDocument/2006/relationships" id="278" r:id="R56b6c0527aa24c06"/>
    <p:sldId xmlns:r="http://schemas.openxmlformats.org/officeDocument/2006/relationships" id="279" r:id="R3b03e16d0f9349db"/>
    <p:sldId xmlns:r="http://schemas.openxmlformats.org/officeDocument/2006/relationships" id="280" r:id="R58dcb1dc48dd4e75"/>
    <p:sldId xmlns:r="http://schemas.openxmlformats.org/officeDocument/2006/relationships" id="281" r:id="R6763a8e90dee4969"/>
    <p:sldId xmlns:r="http://schemas.openxmlformats.org/officeDocument/2006/relationships" id="282" r:id="R687ed53a9308452c"/>
    <p:sldId xmlns:r="http://schemas.openxmlformats.org/officeDocument/2006/relationships" id="283" r:id="Rf8a644c078a04094"/>
    <p:sldId xmlns:r="http://schemas.openxmlformats.org/officeDocument/2006/relationships" id="284" r:id="Rdc6058b15cc04b8f"/>
    <p:sldId xmlns:r="http://schemas.openxmlformats.org/officeDocument/2006/relationships" id="285" r:id="R899e89668ca14e01"/>
    <p:sldId xmlns:r="http://schemas.openxmlformats.org/officeDocument/2006/relationships" id="286" r:id="Rf5ac03e0f24e4d8d"/>
    <p:sldId xmlns:r="http://schemas.openxmlformats.org/officeDocument/2006/relationships" id="287" r:id="R6b8146ac26524f7a"/>
    <p:sldId xmlns:r="http://schemas.openxmlformats.org/officeDocument/2006/relationships" id="288" r:id="R3f5c7cd590374a0b"/>
    <p:sldId xmlns:r="http://schemas.openxmlformats.org/officeDocument/2006/relationships" id="289" r:id="R57ab7e9a56214f6a"/>
    <p:sldId xmlns:r="http://schemas.openxmlformats.org/officeDocument/2006/relationships" id="290" r:id="Rde3e0900a53a40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7a488d0940460c" /><Relationship Type="http://schemas.openxmlformats.org/officeDocument/2006/relationships/slideMaster" Target="/ppt/slideMasters/slideMaster1.xml" Id="Raa1bd208119348ab" /><Relationship Type="http://schemas.openxmlformats.org/officeDocument/2006/relationships/notesMaster" Target="/ppt/notesMasters/notesMaster1.xml" Id="Rd0145800a0864f55" /><Relationship Type="http://schemas.openxmlformats.org/officeDocument/2006/relationships/presProps" Target="/ppt/presProps.xml" Id="R913dfd31a964417b" /><Relationship Type="http://schemas.openxmlformats.org/officeDocument/2006/relationships/tableStyles" Target="/ppt/tableStyles.xml" Id="R414550e71eb04b68" /><Relationship Type="http://schemas.openxmlformats.org/officeDocument/2006/relationships/slide" Target="/ppt/slides/slide1.xml" Id="R996f785c3b6546be" /><Relationship Type="http://schemas.openxmlformats.org/officeDocument/2006/relationships/slide" Target="/ppt/slides/slide2.xml" Id="R13baa545d69b4b92" /><Relationship Type="http://schemas.openxmlformats.org/officeDocument/2006/relationships/slide" Target="/ppt/slides/slide3.xml" Id="R6acd6a9b2db043ae" /><Relationship Type="http://schemas.openxmlformats.org/officeDocument/2006/relationships/slide" Target="/ppt/slides/slide4.xml" Id="R3b3e6f476d754ff6" /><Relationship Type="http://schemas.openxmlformats.org/officeDocument/2006/relationships/slide" Target="/ppt/slides/slide5.xml" Id="R0d4c029888434506" /><Relationship Type="http://schemas.openxmlformats.org/officeDocument/2006/relationships/slide" Target="/ppt/slides/slide6.xml" Id="R72f9f3c88c8043fa" /><Relationship Type="http://schemas.openxmlformats.org/officeDocument/2006/relationships/slide" Target="/ppt/slides/slide7.xml" Id="Rf57f3ee499584b16" /><Relationship Type="http://schemas.openxmlformats.org/officeDocument/2006/relationships/slide" Target="/ppt/slides/slide8.xml" Id="R024ea815146944c9" /><Relationship Type="http://schemas.openxmlformats.org/officeDocument/2006/relationships/slide" Target="/ppt/slides/slide9.xml" Id="Rc96b70f7600b41ae" /><Relationship Type="http://schemas.openxmlformats.org/officeDocument/2006/relationships/slide" Target="/ppt/slides/slide10.xml" Id="Rc5e8477b97724d65" /><Relationship Type="http://schemas.openxmlformats.org/officeDocument/2006/relationships/slide" Target="/ppt/slides/slide11.xml" Id="R407f59bf0fce4336" /><Relationship Type="http://schemas.openxmlformats.org/officeDocument/2006/relationships/slide" Target="/ppt/slides/slide12.xml" Id="R97f6475ee1a244a6" /><Relationship Type="http://schemas.openxmlformats.org/officeDocument/2006/relationships/slide" Target="/ppt/slides/slide13.xml" Id="Ra3e2e40d87a54a48" /><Relationship Type="http://schemas.openxmlformats.org/officeDocument/2006/relationships/slide" Target="/ppt/slides/slide14.xml" Id="R459b48ae97c54bb2" /><Relationship Type="http://schemas.openxmlformats.org/officeDocument/2006/relationships/slide" Target="/ppt/slides/slide15.xml" Id="Rd78c9bff778f4f3d" /><Relationship Type="http://schemas.openxmlformats.org/officeDocument/2006/relationships/slide" Target="/ppt/slides/slide16.xml" Id="Rbda851aaac8d492d" /><Relationship Type="http://schemas.openxmlformats.org/officeDocument/2006/relationships/slide" Target="/ppt/slides/slide17.xml" Id="Re5ef5f01a5f9400b" /><Relationship Type="http://schemas.openxmlformats.org/officeDocument/2006/relationships/slide" Target="/ppt/slides/slide18.xml" Id="R9d1bf5b1840843c2" /><Relationship Type="http://schemas.openxmlformats.org/officeDocument/2006/relationships/slide" Target="/ppt/slides/slide19.xml" Id="R744c9b8a75a2499d" /><Relationship Type="http://schemas.openxmlformats.org/officeDocument/2006/relationships/slide" Target="/ppt/slides/slide20.xml" Id="R6dd8efd1ec86444f" /><Relationship Type="http://schemas.openxmlformats.org/officeDocument/2006/relationships/slide" Target="/ppt/slides/slide21.xml" Id="R98812835644d4fc3" /><Relationship Type="http://schemas.openxmlformats.org/officeDocument/2006/relationships/slide" Target="/ppt/slides/slide22.xml" Id="R78a4466d8ded4131" /><Relationship Type="http://schemas.openxmlformats.org/officeDocument/2006/relationships/slide" Target="/ppt/slides/slide23.xml" Id="R56b6c0527aa24c06" /><Relationship Type="http://schemas.openxmlformats.org/officeDocument/2006/relationships/slide" Target="/ppt/slides/slide24.xml" Id="R3b03e16d0f9349db" /><Relationship Type="http://schemas.openxmlformats.org/officeDocument/2006/relationships/slide" Target="/ppt/slides/slide25.xml" Id="R58dcb1dc48dd4e75" /><Relationship Type="http://schemas.openxmlformats.org/officeDocument/2006/relationships/slide" Target="/ppt/slides/slide26.xml" Id="R6763a8e90dee4969" /><Relationship Type="http://schemas.openxmlformats.org/officeDocument/2006/relationships/slide" Target="/ppt/slides/slide27.xml" Id="R687ed53a9308452c" /><Relationship Type="http://schemas.openxmlformats.org/officeDocument/2006/relationships/slide" Target="/ppt/slides/slide28.xml" Id="Rf8a644c078a04094" /><Relationship Type="http://schemas.openxmlformats.org/officeDocument/2006/relationships/slide" Target="/ppt/slides/slide29.xml" Id="Rdc6058b15cc04b8f" /><Relationship Type="http://schemas.openxmlformats.org/officeDocument/2006/relationships/slide" Target="/ppt/slides/slide30.xml" Id="R899e89668ca14e01" /><Relationship Type="http://schemas.openxmlformats.org/officeDocument/2006/relationships/slide" Target="/ppt/slides/slide31.xml" Id="Rf5ac03e0f24e4d8d" /><Relationship Type="http://schemas.openxmlformats.org/officeDocument/2006/relationships/slide" Target="/ppt/slides/slide32.xml" Id="R6b8146ac26524f7a" /><Relationship Type="http://schemas.openxmlformats.org/officeDocument/2006/relationships/slide" Target="/ppt/slides/slide33.xml" Id="R3f5c7cd590374a0b" /><Relationship Type="http://schemas.openxmlformats.org/officeDocument/2006/relationships/slide" Target="/ppt/slides/slide34.xml" Id="R57ab7e9a56214f6a" /><Relationship Type="http://schemas.openxmlformats.org/officeDocument/2006/relationships/slide" Target="/ppt/slides/slide35.xml" Id="Rde3e0900a53a40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c0da4a91454d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42f4a4a028481e" /><Relationship Type="http://schemas.openxmlformats.org/officeDocument/2006/relationships/notesMaster" Target="/ppt/notesMasters/notesMaster1.xml" Id="R435f3968bb7044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a70f8e18384ec0" /><Relationship Type="http://schemas.openxmlformats.org/officeDocument/2006/relationships/notesMaster" Target="/ppt/notesMasters/notesMaster1.xml" Id="R4d686fae9b204d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d363a2bac44205" /><Relationship Type="http://schemas.openxmlformats.org/officeDocument/2006/relationships/notesMaster" Target="/ppt/notesMasters/notesMaster1.xml" Id="R566fc9da90ba4e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b67a3f64734cc0" /><Relationship Type="http://schemas.openxmlformats.org/officeDocument/2006/relationships/notesMaster" Target="/ppt/notesMasters/notesMaster1.xml" Id="Rce172ded6b1e4f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38502248a6468e" /><Relationship Type="http://schemas.openxmlformats.org/officeDocument/2006/relationships/notesMaster" Target="/ppt/notesMasters/notesMaster1.xml" Id="R5bb43f8ee02342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5e48e7fff146c1" /><Relationship Type="http://schemas.openxmlformats.org/officeDocument/2006/relationships/notesMaster" Target="/ppt/notesMasters/notesMaster1.xml" Id="Rfb5124251d3743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6342a2f31b4d24" /><Relationship Type="http://schemas.openxmlformats.org/officeDocument/2006/relationships/notesMaster" Target="/ppt/notesMasters/notesMaster1.xml" Id="Re605d313bbfb4e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a0f375c5ed4aaa" /><Relationship Type="http://schemas.openxmlformats.org/officeDocument/2006/relationships/notesMaster" Target="/ppt/notesMasters/notesMaster1.xml" Id="R2d9195aed6d54b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de5318ed2c4cca" /><Relationship Type="http://schemas.openxmlformats.org/officeDocument/2006/relationships/notesMaster" Target="/ppt/notesMasters/notesMaster1.xml" Id="R2d908a606e1442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fc8ae40903447f" /><Relationship Type="http://schemas.openxmlformats.org/officeDocument/2006/relationships/notesMaster" Target="/ppt/notesMasters/notesMaster1.xml" Id="R8dc6ff4ed1d44b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223df7d2384e83" /><Relationship Type="http://schemas.openxmlformats.org/officeDocument/2006/relationships/notesMaster" Target="/ppt/notesMasters/notesMaster1.xml" Id="R3e3a730751ca4a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22cb1ec02142ac" /><Relationship Type="http://schemas.openxmlformats.org/officeDocument/2006/relationships/notesMaster" Target="/ppt/notesMasters/notesMaster1.xml" Id="Re01181302e1345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95220fbd8c496a" /><Relationship Type="http://schemas.openxmlformats.org/officeDocument/2006/relationships/notesMaster" Target="/ppt/notesMasters/notesMaster1.xml" Id="Rf92581ccb9594f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eda03c62644063" /><Relationship Type="http://schemas.openxmlformats.org/officeDocument/2006/relationships/notesMaster" Target="/ppt/notesMasters/notesMaster1.xml" Id="R7f6eb7d6d03441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bea2973ea3432e" /><Relationship Type="http://schemas.openxmlformats.org/officeDocument/2006/relationships/notesMaster" Target="/ppt/notesMasters/notesMaster1.xml" Id="R7e60161b541f43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86e2884ffc42a5" /><Relationship Type="http://schemas.openxmlformats.org/officeDocument/2006/relationships/notesMaster" Target="/ppt/notesMasters/notesMaster1.xml" Id="R23c992f946654c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3b8c3f0da949aa" /><Relationship Type="http://schemas.openxmlformats.org/officeDocument/2006/relationships/notesMaster" Target="/ppt/notesMasters/notesMaster1.xml" Id="R1ae5bb07a8f247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da987af0494629" /><Relationship Type="http://schemas.openxmlformats.org/officeDocument/2006/relationships/notesMaster" Target="/ppt/notesMasters/notesMaster1.xml" Id="Ree2623060f2d47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05ea260ae646f4" /><Relationship Type="http://schemas.openxmlformats.org/officeDocument/2006/relationships/notesMaster" Target="/ppt/notesMasters/notesMaster1.xml" Id="Rcab030243fa443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588434df834c66" /><Relationship Type="http://schemas.openxmlformats.org/officeDocument/2006/relationships/notesMaster" Target="/ppt/notesMasters/notesMaster1.xml" Id="R436cd24a9c6245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94805b180043de" /><Relationship Type="http://schemas.openxmlformats.org/officeDocument/2006/relationships/notesMaster" Target="/ppt/notesMasters/notesMaster1.xml" Id="Rb1fc180624894d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dc25dcefa24e92" /><Relationship Type="http://schemas.openxmlformats.org/officeDocument/2006/relationships/notesMaster" Target="/ppt/notesMasters/notesMaster1.xml" Id="R4a94c95eca8c454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8217df5cc3d4c72" /><Relationship Type="http://schemas.openxmlformats.org/officeDocument/2006/relationships/notesMaster" Target="/ppt/notesMasters/notesMaster1.xml" Id="R3c95cf273b4b4f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6c54371b6f40fd" /><Relationship Type="http://schemas.openxmlformats.org/officeDocument/2006/relationships/notesMaster" Target="/ppt/notesMasters/notesMaster1.xml" Id="R16fab1e5ae5140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fd50bf999c4d52" /><Relationship Type="http://schemas.openxmlformats.org/officeDocument/2006/relationships/notesMaster" Target="/ppt/notesMasters/notesMaster1.xml" Id="Rc6ccbc36322f497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0e38dcdffa401e" /><Relationship Type="http://schemas.openxmlformats.org/officeDocument/2006/relationships/notesMaster" Target="/ppt/notesMasters/notesMaster1.xml" Id="R1a0de85b885640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4cfe15fba8e4a00" /><Relationship Type="http://schemas.openxmlformats.org/officeDocument/2006/relationships/notesMaster" Target="/ppt/notesMasters/notesMaster1.xml" Id="R8f24a40672ba41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da432a5f7cd4373" /><Relationship Type="http://schemas.openxmlformats.org/officeDocument/2006/relationships/notesMaster" Target="/ppt/notesMasters/notesMaster1.xml" Id="R03ab25af561941c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2ed0fe7ab194a31" /><Relationship Type="http://schemas.openxmlformats.org/officeDocument/2006/relationships/notesMaster" Target="/ppt/notesMasters/notesMaster1.xml" Id="R4a0b45e633e24f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1978c93ad1435c" /><Relationship Type="http://schemas.openxmlformats.org/officeDocument/2006/relationships/notesMaster" Target="/ppt/notesMasters/notesMaster1.xml" Id="R7dcd24552855464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a8a4a330ab84ef7" /><Relationship Type="http://schemas.openxmlformats.org/officeDocument/2006/relationships/notesMaster" Target="/ppt/notesMasters/notesMaster1.xml" Id="R2b083805a55b40a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d11eb0d131c405b" /><Relationship Type="http://schemas.openxmlformats.org/officeDocument/2006/relationships/notesMaster" Target="/ppt/notesMasters/notesMaster1.xml" Id="R84f03e76febb4c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f359a984234c0d" /><Relationship Type="http://schemas.openxmlformats.org/officeDocument/2006/relationships/notesMaster" Target="/ppt/notesMasters/notesMaster1.xml" Id="R5388e49987ec464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a5ebfd221d2472e" /><Relationship Type="http://schemas.openxmlformats.org/officeDocument/2006/relationships/notesMaster" Target="/ppt/notesMasters/notesMaster1.xml" Id="R0d1f80bd4f30425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8c9d1d637444f0" /><Relationship Type="http://schemas.openxmlformats.org/officeDocument/2006/relationships/notesMaster" Target="/ppt/notesMasters/notesMaster1.xml" Id="Rb149a62400834d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101. Semua huraian mengikuti artikel kecuali nota penilaian sumber yang dinyatakan.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101–106. Semua huraian mengikuti artikel kecuali nota penilaian sumber yang dinyatakan.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101–106. Semua huraian mengikuti artikel kecuali nota penilaian sumber yang dinyatakan.</a:t>
            </a:r>
          </a:p>
          <a:p xmlns:a="http://schemas.openxmlformats.org/drawingml/2006/main">
            <a:r>
              <a:t/>
            </a:r>
          </a:p>
          <a:p xmlns:a="http://schemas.openxmlformats.org/drawingml/2006/main">
            <a:r>
              <a:t>Pernyataan tentang ketiadaan eksperimen ialah pemerhatian terhadap struktur artikel. Jangan tafsirkan huraian kerohanian sebagai bukti rawatan perubatan.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101–102. Semua huraian mengikuti artikel kecuali nota penilaian sumber yang dinyatakan.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102. Semua huraian mengikuti artikel kecuali nota penilaian sumber yang dinyatakan.</a:t>
            </a:r>
          </a:p>
          <a:p xmlns:a="http://schemas.openxmlformats.org/drawingml/2006/main">
            <a:r>
              <a:t/>
            </a:r>
          </a:p>
          <a:p xmlns:a="http://schemas.openxmlformats.org/drawingml/2006/main">
            <a:r>
              <a:t>Riwayat latar penyusunan dilaporkan oleh penulis daripada sumber tradisi. Ia bukan dapatan kajian epidemiologi.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102. Semua huraian mengikuti artikel kecuali nota penilaian sumber yang dinyatakan.</a:t>
            </a:r>
          </a:p>
          <a:p xmlns:a="http://schemas.openxmlformats.org/drawingml/2006/main">
            <a:r>
              <a:t/>
            </a:r>
          </a:p>
          <a:p xmlns:a="http://schemas.openxmlformats.org/drawingml/2006/main">
            <a:r>
              <a:t>Frasa lebih 90 tahun dalam abstrak merujuk konteks penerbitan tahun 2016, bukan pengiraan sehingga tarikh pembentangan.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102–105. Semua huraian mengikuti artikel kecuali nota penilaian sumber yang dinyatakan.</a:t>
            </a:r>
          </a:p>
          <a:p xmlns:a="http://schemas.openxmlformats.org/drawingml/2006/main">
            <a:r>
              <a:t/>
            </a:r>
          </a:p>
          <a:p xmlns:a="http://schemas.openxmlformats.org/drawingml/2006/main">
            <a:r>
              <a:t>Artikel mengaitkan tambahan al-Hasyr serta dua ayat terakhir al-Baqarah dengan Habib Ali bin Hasan al-Attas. Doa akhir dikaitkan dengan Habib Abdullah bin Alwi al-Haddad.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103–105. Semua huraian mengikuti artikel kecuali nota penilaian sumber yang dinyatakan.</a:t>
            </a:r>
          </a:p>
          <a:p xmlns:a="http://schemas.openxmlformats.org/drawingml/2006/main">
            <a:r>
              <a:t/>
            </a:r>
          </a:p>
          <a:p xmlns:a="http://schemas.openxmlformats.org/drawingml/2006/main">
            <a:r>
              <a:t>Poin terakhir merupakan penjelasan analitis bagi membezakan dalil umum, dalil lafaz dan penetapan susunan amalan. Artikel tidak menyediakan takhrij lengkap atau penilaian darjat setiap riwayat.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1. Ulangan menurut perenggan khusus artikel: 3 kali. Memohon perlindungan Allah Yang Maha Mendengar lagi Maha Mengetahui daripada syaitan yang direjam. Lafaz sepadan dengan sebahagian doa dalam Sunan Abi Dawud 775. Ulangan 3 kali di sini mengikut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https://sunnah.com/abudawud:775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2. Ulangan menurut perenggan khusus artikel: 3 kali. Memohon perlindungan dengan kalimah Allah yang sempurna daripada kejahatan makhluk-Nya. Lafaz terdapat dalam Sahih Muslim 2708a. Bilangan 3 kali dalam ratib mengikut huraian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https://sunnah.com/muslim:2708a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3. Ulangan menurut perenggan khusus artikel: 3 kali. Dengan nama Allah, memohon perlindungan daripada kemudaratan di bumi dan di langit. Allah Maha Mendengar lagi Maha Mengetahui. Sunan Abi Dawud 5088 menyebut lafaz ini dan bacaan 3 kali pada pagi dan petang.</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https://sunnah.com/abudawud:5088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4. Ulangan menurut perenggan khusus artikel: 10 kali. Dengan nama Allah Yang Maha Pemurah lagi Maha Penyayang. Tiada daya dan kekuatan kecuali dengan pertolongan Allah. Asas hauqalah: Sahih al-Bukhari 6384. Gabungan lengkap dan ulangan 10 kali mengikut susunan ratib dalam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https://sunnah.com/bukhari:6384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5. Ulangan menurut perenggan khusus artikel: 3 kali. Dengan nama Allah Yang Maha Pemurah lagi Maha Penyayang. Basmalah terdapat dalam al-Fatihah 1:1 dan surat Rasulullah SAW dalam Sahih al-Bukhari 7.</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https://quran.com/1/1 ; https://sunnah.com/bukhari:7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6. Ulangan menurut perenggan khusus artikel: 3 kali. Dengan nama Allah, kami berlindung kepada Allah dan bertawakal kepada-Nya. Artikel menyifatkan doa ini sebagai ijtihad penyusun dengan prinsip menyebut nama Allah.</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7. Ulangan menurut perenggan khusus artikel: 3 kali. Dengan nama Allah, kami beriman kepada Allah. Sesiapa yang beriman kepada Allah, tiada ketakutan atasnya, menurut maksud yang diberikan artikel. Menurut artikel, lafaz doa ini ialah ijtihad penyusun, bukan petikan langsung al-Quran atau hadis.</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 Semua huraian mengikuti artikel kecuali nota penilaian sumber yang dinyatakan.</a:t>
            </a:r>
          </a:p>
          <a:p xmlns:a="http://schemas.openxmlformats.org/drawingml/2006/main">
            <a:r>
              <a:t/>
            </a:r>
          </a:p>
          <a:p xmlns:a="http://schemas.openxmlformats.org/drawingml/2006/main">
            <a:r>
              <a:t>Bacaan 8. Ulangan menurut perenggan khusus artikel: 3 kali. Menyucikan Allah dan mengagungkan kemuliaan serta kebesaran-Nya. Lafaz diperbetulkan mengikut Quran NU Online. Cetakan artikel menggugurkan kalimah Allah selepas tasbih kedua.</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Lafaz zikir 8 yang dipaparkan selepas semakan: سُبْحَانَ اللهِ عَزَّ اللهُ، سُبْحَانَ اللهِ جَلَّ اللهُ . Sumber: https://quran.nu.or.id/wirid/ratib/ratib-al-athas . Ini ialah pembetulan lafaz cetakan, bukan dakwaan bahawa lafaz susunan ini ialah matan hadis.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https://quran.nu.or.id/wirid/ratib/ratib-al-athas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103–104. Semua huraian mengikuti artikel kecuali nota penilaian sumber yang dinyatakan.</a:t>
            </a:r>
          </a:p>
          <a:p xmlns:a="http://schemas.openxmlformats.org/drawingml/2006/main">
            <a:r>
              <a:t/>
            </a:r>
          </a:p>
          <a:p xmlns:a="http://schemas.openxmlformats.org/drawingml/2006/main">
            <a:r>
              <a:t>Bacaan 9. Ulangan menurut perenggan khusus artikel: 3 kali. Maha Suci Allah dan segala puji bagi-Nya. Maha Suci Allah Yang Maha Agung. Lafaz sepadan dengan Sahih al-Bukhari 6682 dan Sahih Muslim 2694. Ulangan 3 kali mengikut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https://sunnah.com/bukhari:6682 ; https://sunnah.com/muslim:2694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10. Ulangan menurut perenggan khusus artikel: 4 kali. Maha Suci Allah. Segala puji bagi Allah. Tiada Tuhan selain Allah. Allah Maha Besar. Keutamaan empat kalimah terdapat dalam Sahih Muslim 2137a. Ulangan 4 kali mengikut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https://sunnah.com/muslim:2137a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11. Ulangan menurut perenggan khusus artikel: 3 kali. Memohon kelembutan dan belas kasih Allah yang mengetahui serta memerhatikan keadaan makhluk-Nya. Doa susunan penyusun menurut artikel. Asas umum berdoa dengan nama Allah: al-A‘raf 7:180 dan al-Isra’ 17:110.</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https://quran.com/7/180 ; https://quran.com/17/110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12. Ulangan menurut perenggan khusus artikel: 3 kali. Memohon belas kasih Allah dalam segala ketentuan bagi diri dan seluruh umat Islam. Doa susunan penyusun menurut artikel. Nama al-Latif disebut dalam al-Shura 42:19 dan al-Mulk 67:14.</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https://quran.com/42/19 ; https://quran.com/67/14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13. Ulangan menurut perenggan khusus artikel: 40–100 kali. Tiada Tuhan melainkan Allah. Asas kalimah tauhid: Sahih al-Bukhari 8. Julat 40–100 kali di sini ialah bilangan dalam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https://sunnah.com/bukhari:8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14. Ulangan menurut perenggan khusus artikel: 7 kali. Cukuplah Allah bagi kami dan Dia sebaik-baik tempat menyerahkan urusan. Lafaz merupakan petikan Ali ‘Imran 3:173, juga dalam Sahih al-Bukhari 4563. Ulangan 7 kali mengikut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https://quran.com/3/173 ; https://sunnah.com/bukhari:4563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15. Ulangan menurut perenggan khusus artikel: 11 kali. Memohon selawat dan salam Allah ke atas Nabi Muhammad SAW. Asas umum selawat: al-Ahzab 33:56. Slaid mengekalkan lafaz susunan ratib dan bilangan 11 kali dalam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Perbezaan naskhah: Quran NU Online menyatakan selawat 10 kali. Artikel utama menyatakan 11 kali. Slaid menyatakan sumber bilangan secara terang.</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https://quran.com/33/56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 Semua huraian mengikuti artikel kecuali nota penilaian sumber yang dinyatakan.</a:t>
            </a:r>
          </a:p>
          <a:p xmlns:a="http://schemas.openxmlformats.org/drawingml/2006/main">
            <a:r>
              <a:t/>
            </a:r>
          </a:p>
          <a:p xmlns:a="http://schemas.openxmlformats.org/drawingml/2006/main">
            <a:r>
              <a:t>Bacaan 16. Ulangan menurut perenggan khusus artikel: 11 kali. Memohon keampunan Allah. Selepas itu, bacaan ta’ibuna ilallah sebanyak 3 kali menurut artikel. Asas amalan istighfar: Sahih al-Bukhari 6307. Bilangan 11 kali dan tambahan 3 kali mengikut artikel.</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https://sunnah.com/bukhari:6307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104–105. Semua huraian mengikuti artikel kecuali nota penilaian sumber yang dinyatakan.</a:t>
            </a:r>
          </a:p>
          <a:p xmlns:a="http://schemas.openxmlformats.org/drawingml/2006/main">
            <a:r>
              <a:t/>
            </a:r>
          </a:p>
          <a:p xmlns:a="http://schemas.openxmlformats.org/drawingml/2006/main">
            <a:r>
              <a:t>Bacaan 17. Ulangan menurut perenggan khusus artikel: 11 kali*. Memohon kepada Allah pengakhiran kehidupan yang baik. Artikel menyifatkan doa ini sebagai ijtihad penyusun. *Bilangan 11 kali dinyatakan dalam perenggan khusus.</a:t>
            </a:r>
          </a:p>
          <a:p xmlns:a="http://schemas.openxmlformats.org/drawingml/2006/main">
            <a:r>
              <a:t>Lafaz Arab dipaparkan sebagai petikan imej daripada PDF asal bagi mengekalkan bentuk cetakan sumber. Maksud ialah parafrasa. Rujukan hadis ialah atribusi artikel, bukan takhrij bebas.</a:t>
            </a:r>
          </a:p>
          <a:p xmlns:a="http://schemas.openxmlformats.org/drawingml/2006/main">
            <a:r>
              <a:t>Perbezaan naskhah: Quran NU Online menyatakan doa husnul khatimah 3 kali. Perenggan khusus artikel utama menyatakan 11 kali. Slaid mengekalkan atribusi kepada artikel, bukan menyeragamkan semua naskhah.</a:t>
            </a:r>
          </a:p>
          <a:p xmlns:a="http://schemas.openxmlformats.org/drawingml/2006/main">
            <a:r>
              <a:t/>
            </a:r>
          </a:p>
          <a:p xmlns:a="http://schemas.openxmlformats.org/drawingml/2006/main">
            <a:r>
              <a:t>Semakan: 17 Oktober 2026. Lafaz Arab ialah petikan imej cetakan artikel bagi 16 bacaan. Zikir 8 diperbetulkan secara nyata menggunakan Quran NU Online kerana keciciran kalimah dalam cetakan artikel. Ini bukan petikan matan hadis lengkap. Bilangan bacaan mengikuti perenggan khusus artikel, kecuali perbezaan yang dinyatakan. Rujukan tambahan yang disemak: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103–105. Semua huraian mengikuti artikel kecuali nota penilaian sumber yang dinyatakan.</a:t>
            </a:r>
          </a:p>
          <a:p xmlns:a="http://schemas.openxmlformats.org/drawingml/2006/main">
            <a:r>
              <a:t/>
            </a:r>
          </a:p>
          <a:p xmlns:a="http://schemas.openxmlformats.org/drawingml/2006/main">
            <a:r>
              <a:t>Pengelompokan tema ini ialah sintesis pembentangan, bukan pengulangan kiraan kategori dalam artikel.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105. Semua huraian mengikuti artikel kecuali nota penilaian sumber yang dinyatakan.</a:t>
            </a:r>
          </a:p>
          <a:p xmlns:a="http://schemas.openxmlformats.org/drawingml/2006/main">
            <a:r>
              <a:t/>
            </a:r>
          </a:p>
          <a:p xmlns:a="http://schemas.openxmlformats.org/drawingml/2006/main">
            <a:r>
              <a:t>Tema ayat diparafrasa berdasarkan perbincangan artikel. Nombor surah menggunakan penomboran lazim bagi surah yang disebut.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103–105. Semua huraian mengikuti artikel kecuali nota penilaian sumber yang dinyatakan.</a:t>
            </a:r>
          </a:p>
          <a:p xmlns:a="http://schemas.openxmlformats.org/drawingml/2006/main">
            <a:r>
              <a:t/>
            </a:r>
          </a:p>
          <a:p xmlns:a="http://schemas.openxmlformats.org/drawingml/2006/main">
            <a:r>
              <a:t>Poin ketiga ialah batas penggunaan sumber bagi pembentangan akademik. Elakkan menyatakan semua riwayat sahih hanya kerana disebut dalam artikel.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105–106. Semua huraian mengikuti artikel kecuali nota penilaian sumber yang dinyatakan.</a:t>
            </a:r>
          </a:p>
          <a:p xmlns:a="http://schemas.openxmlformats.org/drawingml/2006/main">
            <a:r>
              <a:t/>
            </a:r>
          </a:p>
          <a:p xmlns:a="http://schemas.openxmlformats.org/drawingml/2006/main">
            <a:r>
              <a:t>Artikel menyebut kelaziman selepas Isyak di Huraidah dan selepas Maghrib dalam Ramadan. Menurut penulis, pengamalan tidak terikat kepada baiah tertentu. Bezakan huraian ini daripada pengesahan hukum secara bebas.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103–105. Semua huraian mengikuti artikel kecuali nota penilaian sumber yang dinyatakan.</a:t>
            </a:r>
          </a:p>
          <a:p xmlns:a="http://schemas.openxmlformats.org/drawingml/2006/main">
            <a:r>
              <a:t/>
            </a:r>
          </a:p>
          <a:p xmlns:a="http://schemas.openxmlformats.org/drawingml/2006/main">
            <a:r>
              <a:t>Audit berdasarkan senarai khusus: bacaan 1,2,3,5,6,7,8,9,11,12 sebanyak 3 kali (10 bacaan). Bacaan 4 = 10, 10 = 4, 13 = 40–100, 14 = 7, 15–17 = 11 kali. Jumlah 17 bacaan. Artikel menulis al-Ahzab 21:56 sedangkan surah al-Ahzab bernombor 33. Terjemahan basmalah pada hlm.103 menggunakan Maha Mengetahui untuk al-Rahim. Slaid memberi maksud lazim Maha Penyayang.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106. Semua huraian mengikuti artikel kecuali nota penilaian sumber yang dinyatakan.</a:t>
            </a:r>
          </a:p>
          <a:p xmlns:a="http://schemas.openxmlformats.org/drawingml/2006/main">
            <a:r>
              <a:t/>
            </a:r>
          </a:p>
          <a:p xmlns:a="http://schemas.openxmlformats.org/drawingml/2006/main">
            <a:r>
              <a:t>Kekalkan atribusi kepada penulis. Jangan gambarkan artikel tunggal ini sebagai mewakili ijmak ulama atau bukti klinikal.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104–105. Semua huraian mengikuti artikel kecuali nota penilaian sumber yang dinyatakan.</a:t>
            </a:r>
          </a:p>
          <a:p xmlns:a="http://schemas.openxmlformats.org/drawingml/2006/main">
            <a:r>
              <a:t/>
            </a:r>
          </a:p>
          <a:p xmlns:a="http://schemas.openxmlformats.org/drawingml/2006/main">
            <a:r>
              <a:t>Pembetulan merujuk penomboran dan kandungan ayat. Sumber semakan: https://quran.com/7/180 ; https://quran.com/17/110 ; https://quran.com/33/56 ; https://quran.com/15/87 . Bentuk salah ialah sebagaimana dicetak dalam PDF asal.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103–105. Semua huraian mengikuti artikel kecuali nota penilaian sumber yang dinyatakan.</a:t>
            </a:r>
          </a:p>
          <a:p xmlns:a="http://schemas.openxmlformats.org/drawingml/2006/main">
            <a:r>
              <a:t/>
            </a:r>
          </a:p>
          <a:p xmlns:a="http://schemas.openxmlformats.org/drawingml/2006/main">
            <a:r>
              <a:t>Semakan basmalah: https://quran.com/1/1 . Perbandingan bilangan menunjukkan 10 bacaan sebanyak 3 kali, 3 bacaan sebanyak 11 kali, dan masing-masing 1 bacaan sebanyak 4, 7, 10 serta 40–100 kali. Jumlah 17. Tambahan ta’ibuna ilallah 3 kali disebut berasingan selepas zikir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101–107. Semua huraian mengikuti artikel kecuali nota penilaian sumber yang dinyatakan.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Mohd Azman Mohsin et al. (2016). Ratib al-Attas Menurut Perspektif al-Quran dan Hadis. Sains Humanika, 8(3–2), 101–107. Halaman 101–107. Semua huraian mengikuti artikel kecuali nota penilaian sumber yang dinyatakan.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3ef0f681c840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7be289ecfd4f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210495a0034b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5a6c339a6f43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90e152251543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ff992483d74e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174879-B97D-45AA-881B-F94035552E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69911C-046C-4431-8BA2-937CC74164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2A3028-ED71-4836-AB03-5A6F9F1D9B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6F9A51-9FFC-4F04-8437-FAA2B1FC85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B2D44F-DDAD-47C2-ADBF-5C589B5F92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F13513-D885-49CE-9268-74CDCA0311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945E4C-0CD8-481B-8D21-2CE0220B39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FEC0BF-567A-4D17-B4B2-32D340E18E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1A63D1-C29A-4012-A348-288C01A8CD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34542D-3D1C-4F86-A304-AA100DD141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93adf60e554adc" /><Relationship Type="http://schemas.openxmlformats.org/officeDocument/2006/relationships/slideLayout" Target="/ppt/slideLayouts/slideLayout1.xml" Id="R8c7aa4706e78403f" /><Relationship Type="http://schemas.openxmlformats.org/officeDocument/2006/relationships/slideLayout" Target="/ppt/slideLayouts/slideLayout2.xml" Id="R6ce8ea357bf74cfd" /><Relationship Type="http://schemas.openxmlformats.org/officeDocument/2006/relationships/slideLayout" Target="/ppt/slideLayouts/slideLayout3.xml" Id="R51c464ebc34d4742" /><Relationship Type="http://schemas.openxmlformats.org/officeDocument/2006/relationships/slideLayout" Target="/ppt/slideLayouts/slideLayout4.xml" Id="R814c0a0e856d429a" /><Relationship Type="http://schemas.openxmlformats.org/officeDocument/2006/relationships/slideLayout" Target="/ppt/slideLayouts/slideLayout5.xml" Id="R95c552926a2b4648" /><Relationship Type="http://schemas.openxmlformats.org/officeDocument/2006/relationships/slideLayout" Target="/ppt/slideLayouts/slideLayout6.xml" Id="Rae1e3078b55246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7aa4706e78403f"/>
    <p:sldLayoutId xmlns:r="http://schemas.openxmlformats.org/officeDocument/2006/relationships" id="2147483650" r:id="R6ce8ea357bf74cfd"/>
    <p:sldLayoutId xmlns:r="http://schemas.openxmlformats.org/officeDocument/2006/relationships" id="2147483651" r:id="R51c464ebc34d4742"/>
    <p:sldLayoutId xmlns:r="http://schemas.openxmlformats.org/officeDocument/2006/relationships" id="2147483652" r:id="R814c0a0e856d429a"/>
    <p:sldLayoutId xmlns:r="http://schemas.openxmlformats.org/officeDocument/2006/relationships" id="2147483653" r:id="R95c552926a2b4648"/>
    <p:sldLayoutId xmlns:r="http://schemas.openxmlformats.org/officeDocument/2006/relationships" id="2147483654" r:id="Rae1e3078b55246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b15ebc4e0146da" /><Relationship Type="http://schemas.openxmlformats.org/officeDocument/2006/relationships/notesSlide" Target="/ppt/notesSlides/notesSlide1.xml" Id="R58f05c34afd545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aa6d6c2901432e" /><Relationship Type="http://schemas.openxmlformats.org/officeDocument/2006/relationships/notesSlide" Target="/ppt/notesSlides/notesSlide2.xml" Id="Re5b92af14fd047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d1997801a54add" /><Relationship Type="http://schemas.openxmlformats.org/officeDocument/2006/relationships/notesSlide" Target="/ppt/notesSlides/notesSlide3.xml" Id="R38ef24181a3440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c6de74d5784864" /><Relationship Type="http://schemas.openxmlformats.org/officeDocument/2006/relationships/notesSlide" Target="/ppt/notesSlides/notesSlide4.xml" Id="R73f7554eb83044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3b1d04090341bf" /><Relationship Type="http://schemas.openxmlformats.org/officeDocument/2006/relationships/notesSlide" Target="/ppt/notesSlides/notesSlide5.xml" Id="R2606ac49895643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b272b04f4ec43fa" /><Relationship Type="http://schemas.openxmlformats.org/officeDocument/2006/relationships/notesSlide" Target="/ppt/notesSlides/notesSlide6.xml" Id="Rf66e06034e9f4c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62ae23aeca4854" /><Relationship Type="http://schemas.openxmlformats.org/officeDocument/2006/relationships/notesSlide" Target="/ppt/notesSlides/notesSlide7.xml" Id="R060c0d29c9634c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b8a074b4cb4a2d" /><Relationship Type="http://schemas.openxmlformats.org/officeDocument/2006/relationships/notesSlide" Target="/ppt/notesSlides/notesSlide8.xml" Id="Rc5bcf3b3037d4c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b73a497bf544fb" /><Relationship Type="http://schemas.openxmlformats.org/officeDocument/2006/relationships/image" Target="/ppt/media/image.png" Id="R858e1a9cf1174962" /><Relationship Type="http://schemas.openxmlformats.org/officeDocument/2006/relationships/notesSlide" Target="/ppt/notesSlides/notesSlide9.xml" Id="R61afcb74829349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b376a05db144b74" /><Relationship Type="http://schemas.openxmlformats.org/officeDocument/2006/relationships/image" Target="/ppt/media/image2.png" Id="R07076b2d1bb94269" /><Relationship Type="http://schemas.openxmlformats.org/officeDocument/2006/relationships/notesSlide" Target="/ppt/notesSlides/notesSlide10.xml" Id="R4cb9ed70f9484b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3b5ded53ff4a75" /><Relationship Type="http://schemas.openxmlformats.org/officeDocument/2006/relationships/image" Target="/ppt/media/image3.png" Id="R6ef3cc59c13e46f2" /><Relationship Type="http://schemas.openxmlformats.org/officeDocument/2006/relationships/notesSlide" Target="/ppt/notesSlides/notesSlide11.xml" Id="R09b4419a65e34e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964030e5f684dae" /><Relationship Type="http://schemas.openxmlformats.org/officeDocument/2006/relationships/image" Target="/ppt/media/image4.png" Id="R0f920d1c20274c45" /><Relationship Type="http://schemas.openxmlformats.org/officeDocument/2006/relationships/notesSlide" Target="/ppt/notesSlides/notesSlide12.xml" Id="R4146859ada064f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42864809d124482" /><Relationship Type="http://schemas.openxmlformats.org/officeDocument/2006/relationships/image" Target="/ppt/media/image5.png" Id="R78cb8d113bd94853" /><Relationship Type="http://schemas.openxmlformats.org/officeDocument/2006/relationships/notesSlide" Target="/ppt/notesSlides/notesSlide13.xml" Id="R4c1a3895e47b40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02d89ce62e4a77" /><Relationship Type="http://schemas.openxmlformats.org/officeDocument/2006/relationships/image" Target="/ppt/media/image6.png" Id="R566e82433dd442e4" /><Relationship Type="http://schemas.openxmlformats.org/officeDocument/2006/relationships/notesSlide" Target="/ppt/notesSlides/notesSlide14.xml" Id="R14ccd1d504dc42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6ee3a276a694e24" /><Relationship Type="http://schemas.openxmlformats.org/officeDocument/2006/relationships/image" Target="/ppt/media/image7.png" Id="Rd6f650d66bf3422f" /><Relationship Type="http://schemas.openxmlformats.org/officeDocument/2006/relationships/notesSlide" Target="/ppt/notesSlides/notesSlide15.xml" Id="R3423cf54794449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86f0e78400f476a" /><Relationship Type="http://schemas.openxmlformats.org/officeDocument/2006/relationships/image" Target="/ppt/media/image8.png" Id="Re51fae6e118e46f9" /><Relationship Type="http://schemas.openxmlformats.org/officeDocument/2006/relationships/notesSlide" Target="/ppt/notesSlides/notesSlide16.xml" Id="R95a0a96d6a5a4f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f853035d0cb42ff" /><Relationship Type="http://schemas.openxmlformats.org/officeDocument/2006/relationships/image" Target="/ppt/media/image9.png" Id="Rb52a6290ab924c49" /><Relationship Type="http://schemas.openxmlformats.org/officeDocument/2006/relationships/notesSlide" Target="/ppt/notesSlides/notesSlide17.xml" Id="R14d7c43ead7641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fee6e33bef4497e" /><Relationship Type="http://schemas.openxmlformats.org/officeDocument/2006/relationships/image" Target="/ppt/media/image10.png" Id="Reea65c2e4fad44d8" /><Relationship Type="http://schemas.openxmlformats.org/officeDocument/2006/relationships/notesSlide" Target="/ppt/notesSlides/notesSlide18.xml" Id="Rf1079eeb54d745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22623f9237f478d" /><Relationship Type="http://schemas.openxmlformats.org/officeDocument/2006/relationships/image" Target="/ppt/media/image11.png" Id="Ra8820c9fe3df4617" /><Relationship Type="http://schemas.openxmlformats.org/officeDocument/2006/relationships/notesSlide" Target="/ppt/notesSlides/notesSlide19.xml" Id="R3cfa45eddb914d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399e85cccc14967" /><Relationship Type="http://schemas.openxmlformats.org/officeDocument/2006/relationships/image" Target="/ppt/media/image12.png" Id="Rbcf95280e40d4f56" /><Relationship Type="http://schemas.openxmlformats.org/officeDocument/2006/relationships/notesSlide" Target="/ppt/notesSlides/notesSlide20.xml" Id="R0694e493fa25434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38632106e044335" /><Relationship Type="http://schemas.openxmlformats.org/officeDocument/2006/relationships/image" Target="/ppt/media/image13.png" Id="R2d507e5a5f1741da" /><Relationship Type="http://schemas.openxmlformats.org/officeDocument/2006/relationships/notesSlide" Target="/ppt/notesSlides/notesSlide21.xml" Id="R1987859129764c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db7babe987a45fb" /><Relationship Type="http://schemas.openxmlformats.org/officeDocument/2006/relationships/image" Target="/ppt/media/image14.png" Id="Re8b08d8d2a8843b6" /><Relationship Type="http://schemas.openxmlformats.org/officeDocument/2006/relationships/notesSlide" Target="/ppt/notesSlides/notesSlide22.xml" Id="Rb8f3b56eb1d744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e77e8133c794bdb" /><Relationship Type="http://schemas.openxmlformats.org/officeDocument/2006/relationships/image" Target="/ppt/media/image15.png" Id="R5f4984bc496a44c4" /><Relationship Type="http://schemas.openxmlformats.org/officeDocument/2006/relationships/notesSlide" Target="/ppt/notesSlides/notesSlide23.xml" Id="R388cc02a48464d5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49e5d93e0874c1f" /><Relationship Type="http://schemas.openxmlformats.org/officeDocument/2006/relationships/image" Target="/ppt/media/image16.png" Id="Rdd70b0dc8d6f470e" /><Relationship Type="http://schemas.openxmlformats.org/officeDocument/2006/relationships/notesSlide" Target="/ppt/notesSlides/notesSlide24.xml" Id="R586cecf5cac347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12b25fc00954e81" /><Relationship Type="http://schemas.openxmlformats.org/officeDocument/2006/relationships/image" Target="/ppt/media/image17.png" Id="Rc971f5319d694555" /><Relationship Type="http://schemas.openxmlformats.org/officeDocument/2006/relationships/notesSlide" Target="/ppt/notesSlides/notesSlide25.xml" Id="Rbcca91d566af46f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81e95a8daf04c58" /><Relationship Type="http://schemas.openxmlformats.org/officeDocument/2006/relationships/notesSlide" Target="/ppt/notesSlides/notesSlide26.xml" Id="Rd7aae84339e44f5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59ededd8b64425f" /><Relationship Type="http://schemas.openxmlformats.org/officeDocument/2006/relationships/notesSlide" Target="/ppt/notesSlides/notesSlide27.xml" Id="R7204fae1da654ad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a2d22b973ce4c38" /><Relationship Type="http://schemas.openxmlformats.org/officeDocument/2006/relationships/notesSlide" Target="/ppt/notesSlides/notesSlide28.xml" Id="Rab8a95faaf30462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b0192377a9a404c" /><Relationship Type="http://schemas.openxmlformats.org/officeDocument/2006/relationships/notesSlide" Target="/ppt/notesSlides/notesSlide29.xml" Id="R7e4d148f3e7344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962b446eb5e45f4" /><Relationship Type="http://schemas.openxmlformats.org/officeDocument/2006/relationships/notesSlide" Target="/ppt/notesSlides/notesSlide30.xml" Id="R357967510f474a6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c23d32c5ebd4f21" /><Relationship Type="http://schemas.openxmlformats.org/officeDocument/2006/relationships/notesSlide" Target="/ppt/notesSlides/notesSlide31.xml" Id="Rb1221edf1bfa4da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829ec0f05694b1b" /><Relationship Type="http://schemas.openxmlformats.org/officeDocument/2006/relationships/notesSlide" Target="/ppt/notesSlides/notesSlide32.xml" Id="R51c35495602a4dd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ff1b52781f24c2f" /><Relationship Type="http://schemas.openxmlformats.org/officeDocument/2006/relationships/notesSlide" Target="/ppt/notesSlides/notesSlide33.xml" Id="R960ac26bbe5b46b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2ca3eaa6232469e" /><Relationship Type="http://schemas.openxmlformats.org/officeDocument/2006/relationships/notesSlide" Target="/ppt/notesSlides/notesSlide34.xml" Id="Raec6a4f4c8d4418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393be7090674b2c" /><Relationship Type="http://schemas.openxmlformats.org/officeDocument/2006/relationships/notesSlide" Target="/ppt/notesSlides/notesSlide35.xml" Id="R8bfd2dddbdb645ae" /></Relationships>
</file>

<file path=ppt/slides/slide1.xml><?xml version="1.0" encoding="utf-8"?>
<p:sld xmlns:p="http://schemas.openxmlformats.org/presentationml/2006/main">
  <p:cSld>
    <p:bg>
      <p:bgPr>
        <a:solidFill xmlns:a="http://schemas.openxmlformats.org/drawingml/2006/main">
          <a:srgbClr val="103D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98A5F7-FD18-4B45-9EC2-8CCFD8013090}"/>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DCC697"/>
                </a:solidFill>
                <a:latin typeface="DejaVu Sans"/>
                <a:ea typeface="DejaVu Sans"/>
                <a:cs typeface="DejaVu Sans"/>
              </a:defRPr>
            </a:defPPr>
            <a:lvl1pPr>
              <a:defRPr sz="1125" b="1">
                <a:solidFill>
                  <a:srgbClr val="DCC697"/>
                </a:solidFill>
                <a:latin typeface="DejaVu Sans"/>
                <a:ea typeface="DejaVu Sans"/>
                <a:cs typeface="DejaVu Sans"/>
              </a:defRPr>
            </a:lvl1pPr>
            <a:lvl2pPr>
              <a:defRPr sz="1125" b="1">
                <a:solidFill>
                  <a:srgbClr val="DCC697"/>
                </a:solidFill>
                <a:latin typeface="DejaVu Sans"/>
                <a:ea typeface="DejaVu Sans"/>
                <a:cs typeface="DejaVu Sans"/>
              </a:defRPr>
            </a:lvl2pPr>
            <a:lvl3pPr>
              <a:defRPr sz="1125" b="1">
                <a:solidFill>
                  <a:srgbClr val="DCC697"/>
                </a:solidFill>
                <a:latin typeface="DejaVu Sans"/>
                <a:ea typeface="DejaVu Sans"/>
                <a:cs typeface="DejaVu Sans"/>
              </a:defRPr>
            </a:lvl3pPr>
            <a:lvl4pPr>
              <a:defRPr sz="1125" b="1">
                <a:solidFill>
                  <a:srgbClr val="DCC697"/>
                </a:solidFill>
                <a:latin typeface="DejaVu Sans"/>
                <a:ea typeface="DejaVu Sans"/>
                <a:cs typeface="DejaVu Sans"/>
              </a:defRPr>
            </a:lvl4pPr>
            <a:lvl5pPr>
              <a:defRPr sz="1125" b="1">
                <a:solidFill>
                  <a:srgbClr val="DCC697"/>
                </a:solidFill>
                <a:latin typeface="DejaVu Sans"/>
                <a:ea typeface="DejaVu Sans"/>
                <a:cs typeface="DejaVu Sans"/>
              </a:defRPr>
            </a:lvl5pPr>
            <a:lvl6pPr>
              <a:defRPr sz="1125" b="1">
                <a:solidFill>
                  <a:srgbClr val="DCC697"/>
                </a:solidFill>
                <a:latin typeface="DejaVu Sans"/>
                <a:ea typeface="DejaVu Sans"/>
                <a:cs typeface="DejaVu Sans"/>
              </a:defRPr>
            </a:lvl6pPr>
            <a:lvl7pPr>
              <a:defRPr sz="1125" b="1">
                <a:solidFill>
                  <a:srgbClr val="DCC697"/>
                </a:solidFill>
                <a:latin typeface="DejaVu Sans"/>
                <a:ea typeface="DejaVu Sans"/>
                <a:cs typeface="DejaVu Sans"/>
              </a:defRPr>
            </a:lvl7pPr>
            <a:lvl8pPr>
              <a:defRPr sz="1125" b="1">
                <a:solidFill>
                  <a:srgbClr val="DCC697"/>
                </a:solidFill>
                <a:latin typeface="DejaVu Sans"/>
                <a:ea typeface="DejaVu Sans"/>
                <a:cs typeface="DejaVu Sans"/>
              </a:defRPr>
            </a:lvl8pPr>
            <a:lvl9pPr>
              <a:defRPr sz="1125" b="1">
                <a:solidFill>
                  <a:srgbClr val="DCC697"/>
                </a:solidFill>
                <a:latin typeface="DejaVu Sans"/>
                <a:ea typeface="DejaVu Sans"/>
                <a:cs typeface="DejaVu Sans"/>
              </a:defRPr>
            </a:lvl9pPr>
          </a:lstStyle>
          <a:p xmlns:a="http://schemas.openxmlformats.org/drawingml/2006/main">
            <a:pPr>
              <a:defRPr sz="1125" b="1">
                <a:solidFill>
                  <a:srgbClr val="DCC697"/>
                </a:solidFill>
                <a:latin typeface="DejaVu Sans"/>
                <a:ea typeface="DejaVu Sans"/>
                <a:cs typeface="DejaVu Sans"/>
              </a:defRPr>
            </a:pPr>
            <a:r>
              <a:rPr sz="1125" b="1">
                <a:solidFill>
                  <a:srgbClr val="DCC697"/>
                </a:solidFill>
                <a:latin typeface="DejaVu Sans"/>
                <a:ea typeface="DejaVu Sans"/>
                <a:cs typeface="DejaVu Sans"/>
              </a:rPr>
              <a:t>MENURUT PERSPEKTIF AL-QURAN DAN HADIS</a:t>
            </a:r>
          </a:p>
        </p:txBody>
      </p:sp>
      <p:sp>
        <p:nvSpPr>
          <p:cNvPr id="2" name="">
            <a:extLst xmlns:a="http://schemas.openxmlformats.org/drawingml/2006/main">
              <a:ext uri="{FF2B5EF4-FFF2-40B4-BE49-F238E27FC236}">
                <a16:creationId xmlns:a16="http://schemas.microsoft.com/office/drawing/2014/main" id="{8463502F-2C60-427F-BB3B-F68B5AC4458A}"/>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FFFFFF"/>
                </a:solidFill>
                <a:latin typeface="DejaVu Sans"/>
                <a:ea typeface="DejaVu Sans"/>
                <a:cs typeface="DejaVu Sans"/>
              </a:defRPr>
            </a:defPPr>
            <a:lvl1pPr>
              <a:defRPr sz="3300" b="1">
                <a:solidFill>
                  <a:srgbClr val="FFFFFF"/>
                </a:solidFill>
                <a:latin typeface="DejaVu Sans"/>
                <a:ea typeface="DejaVu Sans"/>
                <a:cs typeface="DejaVu Sans"/>
              </a:defRPr>
            </a:lvl1pPr>
            <a:lvl2pPr>
              <a:defRPr sz="3300" b="1">
                <a:solidFill>
                  <a:srgbClr val="FFFFFF"/>
                </a:solidFill>
                <a:latin typeface="DejaVu Sans"/>
                <a:ea typeface="DejaVu Sans"/>
                <a:cs typeface="DejaVu Sans"/>
              </a:defRPr>
            </a:lvl2pPr>
            <a:lvl3pPr>
              <a:defRPr sz="3300" b="1">
                <a:solidFill>
                  <a:srgbClr val="FFFFFF"/>
                </a:solidFill>
                <a:latin typeface="DejaVu Sans"/>
                <a:ea typeface="DejaVu Sans"/>
                <a:cs typeface="DejaVu Sans"/>
              </a:defRPr>
            </a:lvl3pPr>
            <a:lvl4pPr>
              <a:defRPr sz="3300" b="1">
                <a:solidFill>
                  <a:srgbClr val="FFFFFF"/>
                </a:solidFill>
                <a:latin typeface="DejaVu Sans"/>
                <a:ea typeface="DejaVu Sans"/>
                <a:cs typeface="DejaVu Sans"/>
              </a:defRPr>
            </a:lvl4pPr>
            <a:lvl5pPr>
              <a:defRPr sz="3300" b="1">
                <a:solidFill>
                  <a:srgbClr val="FFFFFF"/>
                </a:solidFill>
                <a:latin typeface="DejaVu Sans"/>
                <a:ea typeface="DejaVu Sans"/>
                <a:cs typeface="DejaVu Sans"/>
              </a:defRPr>
            </a:lvl5pPr>
            <a:lvl6pPr>
              <a:defRPr sz="3300" b="1">
                <a:solidFill>
                  <a:srgbClr val="FFFFFF"/>
                </a:solidFill>
                <a:latin typeface="DejaVu Sans"/>
                <a:ea typeface="DejaVu Sans"/>
                <a:cs typeface="DejaVu Sans"/>
              </a:defRPr>
            </a:lvl6pPr>
            <a:lvl7pPr>
              <a:defRPr sz="3300" b="1">
                <a:solidFill>
                  <a:srgbClr val="FFFFFF"/>
                </a:solidFill>
                <a:latin typeface="DejaVu Sans"/>
                <a:ea typeface="DejaVu Sans"/>
                <a:cs typeface="DejaVu Sans"/>
              </a:defRPr>
            </a:lvl7pPr>
            <a:lvl8pPr>
              <a:defRPr sz="3300" b="1">
                <a:solidFill>
                  <a:srgbClr val="FFFFFF"/>
                </a:solidFill>
                <a:latin typeface="DejaVu Sans"/>
                <a:ea typeface="DejaVu Sans"/>
                <a:cs typeface="DejaVu Sans"/>
              </a:defRPr>
            </a:lvl8pPr>
            <a:lvl9pPr>
              <a:defRPr sz="3300" b="1">
                <a:solidFill>
                  <a:srgbClr val="FFFFFF"/>
                </a:solidFill>
                <a:latin typeface="DejaVu Sans"/>
                <a:ea typeface="DejaVu Sans"/>
                <a:cs typeface="DejaVu Sans"/>
              </a:defRPr>
            </a:lvl9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Ratib al-Attas</a:t>
            </a:r>
          </a:p>
        </p:txBody>
      </p:sp>
      <p:sp>
        <p:nvSpPr>
          <p:cNvPr id="3" name="">
            <a:extLst xmlns:a="http://schemas.openxmlformats.org/drawingml/2006/main">
              <a:ext uri="{FF2B5EF4-FFF2-40B4-BE49-F238E27FC236}">
                <a16:creationId xmlns:a16="http://schemas.microsoft.com/office/drawing/2014/main" id="{23A6B3CE-749E-4784-A866-52CD32FEC8B3}"/>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D4DED7"/>
                </a:solidFill>
                <a:latin typeface="DejaVu Sans"/>
                <a:ea typeface="DejaVu Sans"/>
                <a:cs typeface="DejaVu Sans"/>
              </a:defRPr>
            </a:defPPr>
            <a:lvl1pPr>
              <a:defRPr sz="900" b="0">
                <a:solidFill>
                  <a:srgbClr val="D4DED7"/>
                </a:solidFill>
                <a:latin typeface="DejaVu Sans"/>
                <a:ea typeface="DejaVu Sans"/>
                <a:cs typeface="DejaVu Sans"/>
              </a:defRPr>
            </a:lvl1pPr>
            <a:lvl2pPr>
              <a:defRPr sz="900" b="0">
                <a:solidFill>
                  <a:srgbClr val="D4DED7"/>
                </a:solidFill>
                <a:latin typeface="DejaVu Sans"/>
                <a:ea typeface="DejaVu Sans"/>
                <a:cs typeface="DejaVu Sans"/>
              </a:defRPr>
            </a:lvl2pPr>
            <a:lvl3pPr>
              <a:defRPr sz="900" b="0">
                <a:solidFill>
                  <a:srgbClr val="D4DED7"/>
                </a:solidFill>
                <a:latin typeface="DejaVu Sans"/>
                <a:ea typeface="DejaVu Sans"/>
                <a:cs typeface="DejaVu Sans"/>
              </a:defRPr>
            </a:lvl3pPr>
            <a:lvl4pPr>
              <a:defRPr sz="900" b="0">
                <a:solidFill>
                  <a:srgbClr val="D4DED7"/>
                </a:solidFill>
                <a:latin typeface="DejaVu Sans"/>
                <a:ea typeface="DejaVu Sans"/>
                <a:cs typeface="DejaVu Sans"/>
              </a:defRPr>
            </a:lvl4pPr>
            <a:lvl5pPr>
              <a:defRPr sz="900" b="0">
                <a:solidFill>
                  <a:srgbClr val="D4DED7"/>
                </a:solidFill>
                <a:latin typeface="DejaVu Sans"/>
                <a:ea typeface="DejaVu Sans"/>
                <a:cs typeface="DejaVu Sans"/>
              </a:defRPr>
            </a:lvl5pPr>
            <a:lvl6pPr>
              <a:defRPr sz="900" b="0">
                <a:solidFill>
                  <a:srgbClr val="D4DED7"/>
                </a:solidFill>
                <a:latin typeface="DejaVu Sans"/>
                <a:ea typeface="DejaVu Sans"/>
                <a:cs typeface="DejaVu Sans"/>
              </a:defRPr>
            </a:lvl6pPr>
            <a:lvl7pPr>
              <a:defRPr sz="900" b="0">
                <a:solidFill>
                  <a:srgbClr val="D4DED7"/>
                </a:solidFill>
                <a:latin typeface="DejaVu Sans"/>
                <a:ea typeface="DejaVu Sans"/>
                <a:cs typeface="DejaVu Sans"/>
              </a:defRPr>
            </a:lvl7pPr>
            <a:lvl8pPr>
              <a:defRPr sz="900" b="0">
                <a:solidFill>
                  <a:srgbClr val="D4DED7"/>
                </a:solidFill>
                <a:latin typeface="DejaVu Sans"/>
                <a:ea typeface="DejaVu Sans"/>
                <a:cs typeface="DejaVu Sans"/>
              </a:defRPr>
            </a:lvl8pPr>
            <a:lvl9pPr>
              <a:defRPr sz="900" b="0">
                <a:solidFill>
                  <a:srgbClr val="D4DED7"/>
                </a:solidFill>
                <a:latin typeface="DejaVu Sans"/>
                <a:ea typeface="DejaVu Sans"/>
                <a:cs typeface="DejaVu Sans"/>
              </a:defRPr>
            </a:lvl9pPr>
          </a:lstStyle>
          <a:p xmlns:a="http://schemas.openxmlformats.org/drawingml/2006/main">
            <a:pPr>
              <a:defRPr sz="900" b="0">
                <a:solidFill>
                  <a:srgbClr val="D4DED7"/>
                </a:solidFill>
                <a:latin typeface="DejaVu Sans"/>
                <a:ea typeface="DejaVu Sans"/>
                <a:cs typeface="DejaVu Sans"/>
              </a:defRPr>
            </a:pPr>
            <a:r>
              <a:rPr sz="900" b="0">
                <a:solidFill>
                  <a:srgbClr val="D4DED7"/>
                </a:solidFill>
                <a:latin typeface="DejaVu Sans"/>
                <a:ea typeface="DejaVu Sans"/>
                <a:cs typeface="DejaVu Sans"/>
              </a:rPr>
              <a:t>MOHSIN ET AL. (2016)   /   SAINS HUMANIKA   /   HLM. 101</a:t>
            </a:r>
          </a:p>
        </p:txBody>
      </p:sp>
      <p:sp>
        <p:nvSpPr>
          <p:cNvPr id="4" name="">
            <a:extLst xmlns:a="http://schemas.openxmlformats.org/drawingml/2006/main">
              <a:ext uri="{FF2B5EF4-FFF2-40B4-BE49-F238E27FC236}">
                <a16:creationId xmlns:a16="http://schemas.microsoft.com/office/drawing/2014/main" id="{80756752-D29B-462B-9BCA-6C1AA913A900}"/>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DCC697"/>
                </a:solidFill>
                <a:latin typeface="DejaVu Sans"/>
                <a:ea typeface="DejaVu Sans"/>
                <a:cs typeface="DejaVu Sans"/>
              </a:defRPr>
            </a:defPPr>
            <a:lvl1pPr>
              <a:defRPr sz="1350" b="0">
                <a:solidFill>
                  <a:srgbClr val="DCC697"/>
                </a:solidFill>
                <a:latin typeface="DejaVu Sans"/>
                <a:ea typeface="DejaVu Sans"/>
                <a:cs typeface="DejaVu Sans"/>
              </a:defRPr>
            </a:lvl1pPr>
            <a:lvl2pPr>
              <a:defRPr sz="1350" b="0">
                <a:solidFill>
                  <a:srgbClr val="DCC697"/>
                </a:solidFill>
                <a:latin typeface="DejaVu Sans"/>
                <a:ea typeface="DejaVu Sans"/>
                <a:cs typeface="DejaVu Sans"/>
              </a:defRPr>
            </a:lvl2pPr>
            <a:lvl3pPr>
              <a:defRPr sz="1350" b="0">
                <a:solidFill>
                  <a:srgbClr val="DCC697"/>
                </a:solidFill>
                <a:latin typeface="DejaVu Sans"/>
                <a:ea typeface="DejaVu Sans"/>
                <a:cs typeface="DejaVu Sans"/>
              </a:defRPr>
            </a:lvl3pPr>
            <a:lvl4pPr>
              <a:defRPr sz="1350" b="0">
                <a:solidFill>
                  <a:srgbClr val="DCC697"/>
                </a:solidFill>
                <a:latin typeface="DejaVu Sans"/>
                <a:ea typeface="DejaVu Sans"/>
                <a:cs typeface="DejaVu Sans"/>
              </a:defRPr>
            </a:lvl4pPr>
            <a:lvl5pPr>
              <a:defRPr sz="1350" b="0">
                <a:solidFill>
                  <a:srgbClr val="DCC697"/>
                </a:solidFill>
                <a:latin typeface="DejaVu Sans"/>
                <a:ea typeface="DejaVu Sans"/>
                <a:cs typeface="DejaVu Sans"/>
              </a:defRPr>
            </a:lvl5pPr>
            <a:lvl6pPr>
              <a:defRPr sz="1350" b="0">
                <a:solidFill>
                  <a:srgbClr val="DCC697"/>
                </a:solidFill>
                <a:latin typeface="DejaVu Sans"/>
                <a:ea typeface="DejaVu Sans"/>
                <a:cs typeface="DejaVu Sans"/>
              </a:defRPr>
            </a:lvl6pPr>
            <a:lvl7pPr>
              <a:defRPr sz="1350" b="0">
                <a:solidFill>
                  <a:srgbClr val="DCC697"/>
                </a:solidFill>
                <a:latin typeface="DejaVu Sans"/>
                <a:ea typeface="DejaVu Sans"/>
                <a:cs typeface="DejaVu Sans"/>
              </a:defRPr>
            </a:lvl7pPr>
            <a:lvl8pPr>
              <a:defRPr sz="1350" b="0">
                <a:solidFill>
                  <a:srgbClr val="DCC697"/>
                </a:solidFill>
                <a:latin typeface="DejaVu Sans"/>
                <a:ea typeface="DejaVu Sans"/>
                <a:cs typeface="DejaVu Sans"/>
              </a:defRPr>
            </a:lvl8pPr>
            <a:lvl9pPr>
              <a:defRPr sz="1350" b="0">
                <a:solidFill>
                  <a:srgbClr val="DCC697"/>
                </a:solidFill>
                <a:latin typeface="DejaVu Sans"/>
                <a:ea typeface="DejaVu Sans"/>
                <a:cs typeface="DejaVu Sans"/>
              </a:defRPr>
            </a:lvl9pPr>
          </a:lstStyle>
          <a:p xmlns:a="http://schemas.openxmlformats.org/drawingml/2006/main">
            <a:pPr>
              <a:defRPr sz="1350" b="0">
                <a:solidFill>
                  <a:srgbClr val="DCC697"/>
                </a:solidFill>
                <a:latin typeface="DejaVu Sans"/>
                <a:ea typeface="DejaVu Sans"/>
                <a:cs typeface="DejaVu Sans"/>
              </a:defRPr>
            </a:pPr>
            <a:r>
              <a:rPr sz="1350" b="0">
                <a:solidFill>
                  <a:srgbClr val="DCC697"/>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0693B570-B4F5-4101-BDC1-026B78485278}"/>
              </a:ext>
            </a:extLst>
          </p:cNvPr>
          <p:cNvSpPr>
            <a:spLocks xmlns:a="http://schemas.openxmlformats.org/drawingml/2006/main" noGrp="1"/>
          </p:cNvSpPr>
          <p:nvPr/>
        </p:nvSpPr>
        <p:spPr>
          <a:xfrm xmlns:a="http://schemas.openxmlformats.org/drawingml/2006/main">
            <a:off x="647700" y="2428875"/>
            <a:ext cx="10572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E9E1CE"/>
                </a:solidFill>
                <a:latin typeface="DejaVu Sans"/>
                <a:ea typeface="DejaVu Sans"/>
                <a:cs typeface="DejaVu Sans"/>
              </a:defRPr>
            </a:defPPr>
            <a:lvl1pPr>
              <a:defRPr sz="2400" b="0">
                <a:solidFill>
                  <a:srgbClr val="E9E1CE"/>
                </a:solidFill>
                <a:latin typeface="DejaVu Sans"/>
                <a:ea typeface="DejaVu Sans"/>
                <a:cs typeface="DejaVu Sans"/>
              </a:defRPr>
            </a:lvl1pPr>
            <a:lvl2pPr>
              <a:defRPr sz="2400" b="0">
                <a:solidFill>
                  <a:srgbClr val="E9E1CE"/>
                </a:solidFill>
                <a:latin typeface="DejaVu Sans"/>
                <a:ea typeface="DejaVu Sans"/>
                <a:cs typeface="DejaVu Sans"/>
              </a:defRPr>
            </a:lvl2pPr>
            <a:lvl3pPr>
              <a:defRPr sz="2400" b="0">
                <a:solidFill>
                  <a:srgbClr val="E9E1CE"/>
                </a:solidFill>
                <a:latin typeface="DejaVu Sans"/>
                <a:ea typeface="DejaVu Sans"/>
                <a:cs typeface="DejaVu Sans"/>
              </a:defRPr>
            </a:lvl3pPr>
            <a:lvl4pPr>
              <a:defRPr sz="2400" b="0">
                <a:solidFill>
                  <a:srgbClr val="E9E1CE"/>
                </a:solidFill>
                <a:latin typeface="DejaVu Sans"/>
                <a:ea typeface="DejaVu Sans"/>
                <a:cs typeface="DejaVu Sans"/>
              </a:defRPr>
            </a:lvl4pPr>
            <a:lvl5pPr>
              <a:defRPr sz="2400" b="0">
                <a:solidFill>
                  <a:srgbClr val="E9E1CE"/>
                </a:solidFill>
                <a:latin typeface="DejaVu Sans"/>
                <a:ea typeface="DejaVu Sans"/>
                <a:cs typeface="DejaVu Sans"/>
              </a:defRPr>
            </a:lvl5pPr>
            <a:lvl6pPr>
              <a:defRPr sz="2400" b="0">
                <a:solidFill>
                  <a:srgbClr val="E9E1CE"/>
                </a:solidFill>
                <a:latin typeface="DejaVu Sans"/>
                <a:ea typeface="DejaVu Sans"/>
                <a:cs typeface="DejaVu Sans"/>
              </a:defRPr>
            </a:lvl6pPr>
            <a:lvl7pPr>
              <a:defRPr sz="2400" b="0">
                <a:solidFill>
                  <a:srgbClr val="E9E1CE"/>
                </a:solidFill>
                <a:latin typeface="DejaVu Sans"/>
                <a:ea typeface="DejaVu Sans"/>
                <a:cs typeface="DejaVu Sans"/>
              </a:defRPr>
            </a:lvl7pPr>
            <a:lvl8pPr>
              <a:defRPr sz="2400" b="0">
                <a:solidFill>
                  <a:srgbClr val="E9E1CE"/>
                </a:solidFill>
                <a:latin typeface="DejaVu Sans"/>
                <a:ea typeface="DejaVu Sans"/>
                <a:cs typeface="DejaVu Sans"/>
              </a:defRPr>
            </a:lvl8pPr>
            <a:lvl9pPr>
              <a:defRPr sz="2400" b="0">
                <a:solidFill>
                  <a:srgbClr val="E9E1CE"/>
                </a:solidFill>
                <a:latin typeface="DejaVu Sans"/>
                <a:ea typeface="DejaVu Sans"/>
                <a:cs typeface="DejaVu Sans"/>
              </a:defRPr>
            </a:lvl9pPr>
          </a:lstStyle>
          <a:p xmlns:a="http://schemas.openxmlformats.org/drawingml/2006/main">
            <a:pPr>
              <a:defRPr sz="2400" b="0">
                <a:solidFill>
                  <a:srgbClr val="E9E1CE"/>
                </a:solidFill>
                <a:latin typeface="DejaVu Sans"/>
                <a:ea typeface="DejaVu Sans"/>
                <a:cs typeface="DejaVu Sans"/>
              </a:defRPr>
            </a:pPr>
            <a:r>
              <a:rPr sz="2400" b="0">
                <a:solidFill>
                  <a:srgbClr val="E9E1CE"/>
                </a:solidFill>
                <a:latin typeface="DejaVu Sans"/>
                <a:ea typeface="DejaVu Sans"/>
                <a:cs typeface="DejaVu Sans"/>
              </a:rPr>
              <a:t>Tazkirah Maghrib sempena</a:t>
            </a:r>
          </a:p>
          <a:p xmlns:a="http://schemas.openxmlformats.org/drawingml/2006/main">
            <a:pPr>
              <a:defRPr sz="2400" b="0">
                <a:solidFill>
                  <a:srgbClr val="E9E1CE"/>
                </a:solidFill>
                <a:latin typeface="DejaVu Sans"/>
                <a:ea typeface="DejaVu Sans"/>
                <a:cs typeface="DejaVu Sans"/>
              </a:defRPr>
            </a:pPr>
            <a:r>
              <a:rPr sz="2400" b="0">
                <a:solidFill>
                  <a:srgbClr val="E9E1CE"/>
                </a:solidFill>
                <a:latin typeface="DejaVu Sans"/>
                <a:ea typeface="DejaVu Sans"/>
                <a:cs typeface="DejaVu Sans"/>
              </a:rPr>
              <a:t>Kem Pembentukan JKP Kolej Tun Razak,</a:t>
            </a:r>
          </a:p>
          <a:p xmlns:a="http://schemas.openxmlformats.org/drawingml/2006/main">
            <a:pPr>
              <a:defRPr sz="2400" b="0">
                <a:solidFill>
                  <a:srgbClr val="E9E1CE"/>
                </a:solidFill>
                <a:latin typeface="DejaVu Sans"/>
                <a:ea typeface="DejaVu Sans"/>
                <a:cs typeface="DejaVu Sans"/>
              </a:defRPr>
            </a:pPr>
            <a:r>
              <a:rPr sz="2400" b="0">
                <a:solidFill>
                  <a:srgbClr val="E9E1CE"/>
                </a:solidFill>
                <a:latin typeface="DejaVu Sans"/>
                <a:ea typeface="DejaVu Sans"/>
                <a:cs typeface="DejaVu Sans"/>
              </a:rPr>
              <a:t>Universiti Teknologi Malaysia 2026/2027</a:t>
            </a:r>
          </a:p>
        </p:txBody>
      </p:sp>
      <p:sp>
        <p:nvSpPr>
          <p:cNvPr id="6" name="">
            <a:extLst xmlns:a="http://schemas.openxmlformats.org/drawingml/2006/main">
              <a:ext uri="{FF2B5EF4-FFF2-40B4-BE49-F238E27FC236}">
                <a16:creationId xmlns:a16="http://schemas.microsoft.com/office/drawing/2014/main" id="{19CEE2ED-6C56-4A6A-B237-EDAA2263D37A}"/>
              </a:ext>
            </a:extLst>
          </p:cNvPr>
          <p:cNvSpPr>
            <a:spLocks xmlns:a="http://schemas.openxmlformats.org/drawingml/2006/main" noGrp="1"/>
          </p:cNvSpPr>
          <p:nvPr/>
        </p:nvSpPr>
        <p:spPr>
          <a:xfrm xmlns:a="http://schemas.openxmlformats.org/drawingml/2006/main">
            <a:off x="647700" y="4591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D4DED7"/>
                </a:solidFill>
                <a:latin typeface="DejaVu Sans"/>
                <a:ea typeface="DejaVu Sans"/>
                <a:cs typeface="DejaVu Sans"/>
              </a:defRPr>
            </a:defPPr>
            <a:lvl1pPr>
              <a:defRPr sz="1800" b="0">
                <a:solidFill>
                  <a:srgbClr val="D4DED7"/>
                </a:solidFill>
                <a:latin typeface="DejaVu Sans"/>
                <a:ea typeface="DejaVu Sans"/>
                <a:cs typeface="DejaVu Sans"/>
              </a:defRPr>
            </a:lvl1pPr>
            <a:lvl2pPr>
              <a:defRPr sz="1800" b="0">
                <a:solidFill>
                  <a:srgbClr val="D4DED7"/>
                </a:solidFill>
                <a:latin typeface="DejaVu Sans"/>
                <a:ea typeface="DejaVu Sans"/>
                <a:cs typeface="DejaVu Sans"/>
              </a:defRPr>
            </a:lvl2pPr>
            <a:lvl3pPr>
              <a:defRPr sz="1800" b="0">
                <a:solidFill>
                  <a:srgbClr val="D4DED7"/>
                </a:solidFill>
                <a:latin typeface="DejaVu Sans"/>
                <a:ea typeface="DejaVu Sans"/>
                <a:cs typeface="DejaVu Sans"/>
              </a:defRPr>
            </a:lvl3pPr>
            <a:lvl4pPr>
              <a:defRPr sz="1800" b="0">
                <a:solidFill>
                  <a:srgbClr val="D4DED7"/>
                </a:solidFill>
                <a:latin typeface="DejaVu Sans"/>
                <a:ea typeface="DejaVu Sans"/>
                <a:cs typeface="DejaVu Sans"/>
              </a:defRPr>
            </a:lvl4pPr>
            <a:lvl5pPr>
              <a:defRPr sz="1800" b="0">
                <a:solidFill>
                  <a:srgbClr val="D4DED7"/>
                </a:solidFill>
                <a:latin typeface="DejaVu Sans"/>
                <a:ea typeface="DejaVu Sans"/>
                <a:cs typeface="DejaVu Sans"/>
              </a:defRPr>
            </a:lvl5pPr>
            <a:lvl6pPr>
              <a:defRPr sz="1800" b="0">
                <a:solidFill>
                  <a:srgbClr val="D4DED7"/>
                </a:solidFill>
                <a:latin typeface="DejaVu Sans"/>
                <a:ea typeface="DejaVu Sans"/>
                <a:cs typeface="DejaVu Sans"/>
              </a:defRPr>
            </a:lvl6pPr>
            <a:lvl7pPr>
              <a:defRPr sz="1800" b="0">
                <a:solidFill>
                  <a:srgbClr val="D4DED7"/>
                </a:solidFill>
                <a:latin typeface="DejaVu Sans"/>
                <a:ea typeface="DejaVu Sans"/>
                <a:cs typeface="DejaVu Sans"/>
              </a:defRPr>
            </a:lvl7pPr>
            <a:lvl8pPr>
              <a:defRPr sz="1800" b="0">
                <a:solidFill>
                  <a:srgbClr val="D4DED7"/>
                </a:solidFill>
                <a:latin typeface="DejaVu Sans"/>
                <a:ea typeface="DejaVu Sans"/>
                <a:cs typeface="DejaVu Sans"/>
              </a:defRPr>
            </a:lvl8pPr>
            <a:lvl9pPr>
              <a:defRPr sz="1800" b="0">
                <a:solidFill>
                  <a:srgbClr val="D4DED7"/>
                </a:solidFill>
                <a:latin typeface="DejaVu Sans"/>
                <a:ea typeface="DejaVu Sans"/>
                <a:cs typeface="DejaVu Sans"/>
              </a:defRPr>
            </a:lvl9pPr>
          </a:lstStyle>
          <a:p xmlns:a="http://schemas.openxmlformats.org/drawingml/2006/main">
            <a:pPr>
              <a:defRPr sz="1800" b="0">
                <a:solidFill>
                  <a:srgbClr val="D4DED7"/>
                </a:solidFill>
                <a:latin typeface="DejaVu Sans"/>
                <a:ea typeface="DejaVu Sans"/>
                <a:cs typeface="DejaVu Sans"/>
              </a:defRPr>
            </a:pPr>
            <a:r>
              <a:rPr sz="1800" b="0">
                <a:solidFill>
                  <a:srgbClr val="D4DED7"/>
                </a:solidFill>
                <a:latin typeface="DejaVu Sans"/>
                <a:ea typeface="DejaVu Sans"/>
                <a:cs typeface="DejaVu Sans"/>
              </a:rPr>
              <a:t>Berdasarkan artikel Mohd Azman Mohsin dan rakan-rakan</a:t>
            </a:r>
          </a:p>
          <a:p xmlns:a="http://schemas.openxmlformats.org/drawingml/2006/main">
            <a:pPr>
              <a:defRPr sz="1800" b="0">
                <a:solidFill>
                  <a:srgbClr val="D4DED7"/>
                </a:solidFill>
                <a:latin typeface="DejaVu Sans"/>
                <a:ea typeface="DejaVu Sans"/>
                <a:cs typeface="DejaVu Sans"/>
              </a:defRPr>
            </a:pPr>
            <a:r>
              <a:rPr sz="1800" b="0">
                <a:solidFill>
                  <a:srgbClr val="D4DED7"/>
                </a:solidFill>
                <a:latin typeface="DejaVu Sans"/>
                <a:ea typeface="DejaVu Sans"/>
                <a:cs typeface="DejaVu Sans"/>
              </a:rPr>
              <a:t>Sains Humanika 8(3–2), 2016, halaman 101–107</a:t>
            </a:r>
          </a:p>
        </p:txBody>
      </p:sp>
    </p:spTree>
    <p:extLst>
      <p:ext uri="{BB962C8B-B14F-4D97-AF65-F5344CB8AC3E}">
        <p14:creationId xmlns:p14="http://schemas.microsoft.com/office/powerpoint/2010/main" val="694869227"/>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DF4897-B197-4F03-9FCC-45E9577BCA5B}"/>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PENGENALAN</a:t>
            </a:r>
          </a:p>
        </p:txBody>
      </p:sp>
      <p:sp>
        <p:nvSpPr>
          <p:cNvPr id="2" name="">
            <a:extLst xmlns:a="http://schemas.openxmlformats.org/drawingml/2006/main">
              <a:ext uri="{FF2B5EF4-FFF2-40B4-BE49-F238E27FC236}">
                <a16:creationId xmlns:a16="http://schemas.microsoft.com/office/drawing/2014/main" id="{346D3105-1BB8-4DD9-93D4-145BD9ECE41E}"/>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Skop pembentangan</a:t>
            </a:r>
          </a:p>
        </p:txBody>
      </p:sp>
      <p:sp>
        <p:nvSpPr>
          <p:cNvPr id="3" name="">
            <a:extLst xmlns:a="http://schemas.openxmlformats.org/drawingml/2006/main">
              <a:ext uri="{FF2B5EF4-FFF2-40B4-BE49-F238E27FC236}">
                <a16:creationId xmlns:a16="http://schemas.microsoft.com/office/drawing/2014/main" id="{FA24AC9C-6C18-4D8A-87D8-0388B07C8967}"/>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101–106</a:t>
            </a:r>
          </a:p>
        </p:txBody>
      </p:sp>
      <p:sp>
        <p:nvSpPr>
          <p:cNvPr id="4" name="">
            <a:extLst xmlns:a="http://schemas.openxmlformats.org/drawingml/2006/main">
              <a:ext uri="{FF2B5EF4-FFF2-40B4-BE49-F238E27FC236}">
                <a16:creationId xmlns:a16="http://schemas.microsoft.com/office/drawing/2014/main" id="{9543B777-A75C-4B31-94EC-2856C62A6D6B}"/>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25351C81-E900-4FC5-B92D-724FA8BC2C48}"/>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E7967058-04BB-4C2F-9AC5-80E2B07158D2}"/>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Latar belakang pengasas dan perkembangan amalan di Johor.</a:t>
            </a:r>
          </a:p>
        </p:txBody>
      </p:sp>
      <p:sp>
        <p:nvSpPr>
          <p:cNvPr id="7" name="">
            <a:extLst xmlns:a="http://schemas.openxmlformats.org/drawingml/2006/main">
              <a:ext uri="{FF2B5EF4-FFF2-40B4-BE49-F238E27FC236}">
                <a16:creationId xmlns:a16="http://schemas.microsoft.com/office/drawing/2014/main" id="{D256A270-77D0-4353-9E11-9D75525CFFF1}"/>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5CCF1DC5-1367-4CE3-9993-932B8D8ADD67}"/>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Kesemua 17 bacaan, maksud ringkas serta bilangan ulangan menurut huraian artikel.</a:t>
            </a:r>
          </a:p>
        </p:txBody>
      </p:sp>
      <p:sp>
        <p:nvSpPr>
          <p:cNvPr id="9" name="">
            <a:extLst xmlns:a="http://schemas.openxmlformats.org/drawingml/2006/main">
              <a:ext uri="{FF2B5EF4-FFF2-40B4-BE49-F238E27FC236}">
                <a16:creationId xmlns:a16="http://schemas.microsoft.com/office/drawing/2014/main" id="{87E5671D-3039-46DA-912C-A9E5C7139DFE}"/>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968785E4-D985-44AB-AF83-D99640F0F885}"/>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Sandaran nas, peranan ijtihad, kaedah majlis dan rumusan penulis.</a:t>
            </a:r>
          </a:p>
        </p:txBody>
      </p:sp>
    </p:spTree>
    <p:extLst>
      <p:ext uri="{BB962C8B-B14F-4D97-AF65-F5344CB8AC3E}">
        <p14:creationId xmlns:p14="http://schemas.microsoft.com/office/powerpoint/2010/main" val="455178211"/>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A5731C-BF24-4A3C-9BC0-F5B323829255}"/>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PENGENALAN</a:t>
            </a:r>
          </a:p>
        </p:txBody>
      </p:sp>
      <p:sp>
        <p:nvSpPr>
          <p:cNvPr id="2" name="">
            <a:extLst xmlns:a="http://schemas.openxmlformats.org/drawingml/2006/main">
              <a:ext uri="{FF2B5EF4-FFF2-40B4-BE49-F238E27FC236}">
                <a16:creationId xmlns:a16="http://schemas.microsoft.com/office/drawing/2014/main" id="{47BD5152-C4A9-48AD-8B88-589C7ED7C845}"/>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Tujuan dan pendekatan artikel</a:t>
            </a:r>
          </a:p>
        </p:txBody>
      </p:sp>
      <p:sp>
        <p:nvSpPr>
          <p:cNvPr id="3" name="">
            <a:extLst xmlns:a="http://schemas.openxmlformats.org/drawingml/2006/main">
              <a:ext uri="{FF2B5EF4-FFF2-40B4-BE49-F238E27FC236}">
                <a16:creationId xmlns:a16="http://schemas.microsoft.com/office/drawing/2014/main" id="{034BB706-733E-4899-8271-AC13F9EB2B43}"/>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101–106</a:t>
            </a:r>
          </a:p>
        </p:txBody>
      </p:sp>
      <p:sp>
        <p:nvSpPr>
          <p:cNvPr id="4" name="">
            <a:extLst xmlns:a="http://schemas.openxmlformats.org/drawingml/2006/main">
              <a:ext uri="{FF2B5EF4-FFF2-40B4-BE49-F238E27FC236}">
                <a16:creationId xmlns:a16="http://schemas.microsoft.com/office/drawing/2014/main" id="{36231942-0A7F-4916-B112-36E2519F568D}"/>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03</a:t>
            </a:r>
          </a:p>
        </p:txBody>
      </p:sp>
      <p:sp>
        <p:nvSpPr>
          <p:cNvPr id="5" name="">
            <a:extLst xmlns:a="http://schemas.openxmlformats.org/drawingml/2006/main">
              <a:ext uri="{FF2B5EF4-FFF2-40B4-BE49-F238E27FC236}">
                <a16:creationId xmlns:a16="http://schemas.microsoft.com/office/drawing/2014/main" id="{5782C705-D76A-42CF-98E3-C8AD3C34C731}"/>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3F631AEA-7147-4BEF-8CB5-C802CFF307EB}"/>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Menilai sumber 17 zikir berdasarkan al-Quran, hadis dan pandangan ulama.</a:t>
            </a:r>
          </a:p>
        </p:txBody>
      </p:sp>
      <p:sp>
        <p:nvSpPr>
          <p:cNvPr id="7" name="">
            <a:extLst xmlns:a="http://schemas.openxmlformats.org/drawingml/2006/main">
              <a:ext uri="{FF2B5EF4-FFF2-40B4-BE49-F238E27FC236}">
                <a16:creationId xmlns:a16="http://schemas.microsoft.com/office/drawing/2014/main" id="{2E727150-FA4A-4526-A361-73D090A6CF64}"/>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EBF1967E-2D12-4D08-A3F8-39C85620A177}"/>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Menjelaskan maksud serta bentuk pengamalan bagi mengurangkan kekeliruan.</a:t>
            </a:r>
          </a:p>
        </p:txBody>
      </p:sp>
      <p:sp>
        <p:nvSpPr>
          <p:cNvPr id="9" name="">
            <a:extLst xmlns:a="http://schemas.openxmlformats.org/drawingml/2006/main">
              <a:ext uri="{FF2B5EF4-FFF2-40B4-BE49-F238E27FC236}">
                <a16:creationId xmlns:a16="http://schemas.microsoft.com/office/drawing/2014/main" id="{F45297FA-AE70-4C71-B1C2-B815458F9486}"/>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5CC6AE85-FC31-4F02-85E6-C62450DF6622}"/>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Perbincangan berasaskan sumber. Artikel tidak melaporkan eksperimen atau ukuran kesan klinikal.</a:t>
            </a:r>
          </a:p>
        </p:txBody>
      </p:sp>
    </p:spTree>
    <p:extLst>
      <p:ext uri="{BB962C8B-B14F-4D97-AF65-F5344CB8AC3E}">
        <p14:creationId xmlns:p14="http://schemas.microsoft.com/office/powerpoint/2010/main" val="697847607"/>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F6C0FD-0DAA-40A3-BA32-71C7A24020F3}"/>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KERANGKA PERBINCANGAN</a:t>
            </a:r>
          </a:p>
        </p:txBody>
      </p:sp>
      <p:sp>
        <p:nvSpPr>
          <p:cNvPr id="2" name="">
            <a:extLst xmlns:a="http://schemas.openxmlformats.org/drawingml/2006/main">
              <a:ext uri="{FF2B5EF4-FFF2-40B4-BE49-F238E27FC236}">
                <a16:creationId xmlns:a16="http://schemas.microsoft.com/office/drawing/2014/main" id="{5C251DD0-350F-4554-AF28-B923F2B9E6C2}"/>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Tasawuf, ihsan dan zikrullah</a:t>
            </a:r>
          </a:p>
        </p:txBody>
      </p:sp>
      <p:sp>
        <p:nvSpPr>
          <p:cNvPr id="3" name="">
            <a:extLst xmlns:a="http://schemas.openxmlformats.org/drawingml/2006/main">
              <a:ext uri="{FF2B5EF4-FFF2-40B4-BE49-F238E27FC236}">
                <a16:creationId xmlns:a16="http://schemas.microsoft.com/office/drawing/2014/main" id="{F3C97655-0804-47AC-8D69-5FACA46C82AB}"/>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101–102</a:t>
            </a:r>
          </a:p>
        </p:txBody>
      </p:sp>
      <p:sp>
        <p:nvSpPr>
          <p:cNvPr id="4" name="">
            <a:extLst xmlns:a="http://schemas.openxmlformats.org/drawingml/2006/main">
              <a:ext uri="{FF2B5EF4-FFF2-40B4-BE49-F238E27FC236}">
                <a16:creationId xmlns:a16="http://schemas.microsoft.com/office/drawing/2014/main" id="{B8D7A6BD-2425-4AD4-BFD7-E342BB655ABC}"/>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8B2A2DAC-E7C6-48E1-B5A2-596FDE7EC0E5}"/>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882E5650-3740-4CC0-BAB9-7F02E17513D7}"/>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Artikel meletakkan tasawuf dalam perbincangan ihsan dan penyucian jiwa.</a:t>
            </a:r>
          </a:p>
        </p:txBody>
      </p:sp>
      <p:sp>
        <p:nvSpPr>
          <p:cNvPr id="7" name="">
            <a:extLst xmlns:a="http://schemas.openxmlformats.org/drawingml/2006/main">
              <a:ext uri="{FF2B5EF4-FFF2-40B4-BE49-F238E27FC236}">
                <a16:creationId xmlns:a16="http://schemas.microsoft.com/office/drawing/2014/main" id="{5CF298CD-936C-408D-B69D-36DA9856A92C}"/>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95093B26-951A-4AA6-B9FE-CF902BC840A4}"/>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Zikrullah menjadi amalan mendekatkan diri kepada Allah dan memohon keredaan-Nya.</a:t>
            </a:r>
          </a:p>
        </p:txBody>
      </p:sp>
      <p:sp>
        <p:nvSpPr>
          <p:cNvPr id="9" name="">
            <a:extLst xmlns:a="http://schemas.openxmlformats.org/drawingml/2006/main">
              <a:ext uri="{FF2B5EF4-FFF2-40B4-BE49-F238E27FC236}">
                <a16:creationId xmlns:a16="http://schemas.microsoft.com/office/drawing/2014/main" id="{2968BF1B-80C0-41B7-8000-B597FC3EB116}"/>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3AC581BB-6AF9-4850-84D2-D82857F24DED}"/>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Penulis mengakui perbezaan pandangan ulama tentang bentuk zikir dan pengamalan tarekat.</a:t>
            </a:r>
          </a:p>
        </p:txBody>
      </p:sp>
    </p:spTree>
    <p:extLst>
      <p:ext uri="{BB962C8B-B14F-4D97-AF65-F5344CB8AC3E}">
        <p14:creationId xmlns:p14="http://schemas.microsoft.com/office/powerpoint/2010/main" val="385158728"/>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8767DA-0085-4F86-924D-835B16EB4873}"/>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LATAR SEJARAH</a:t>
            </a:r>
          </a:p>
        </p:txBody>
      </p:sp>
      <p:sp>
        <p:nvSpPr>
          <p:cNvPr id="2" name="">
            <a:extLst xmlns:a="http://schemas.openxmlformats.org/drawingml/2006/main">
              <a:ext uri="{FF2B5EF4-FFF2-40B4-BE49-F238E27FC236}">
                <a16:creationId xmlns:a16="http://schemas.microsoft.com/office/drawing/2014/main" id="{9AAA83B6-B338-4A89-AE2B-38E2BACE4881}"/>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Pengasas Ratib al-Attas</a:t>
            </a:r>
          </a:p>
        </p:txBody>
      </p:sp>
      <p:sp>
        <p:nvSpPr>
          <p:cNvPr id="3" name="">
            <a:extLst xmlns:a="http://schemas.openxmlformats.org/drawingml/2006/main">
              <a:ext uri="{FF2B5EF4-FFF2-40B4-BE49-F238E27FC236}">
                <a16:creationId xmlns:a16="http://schemas.microsoft.com/office/drawing/2014/main" id="{93F9CF6D-4BB8-4CC9-8046-B9540E9DC7D7}"/>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102</a:t>
            </a:r>
          </a:p>
        </p:txBody>
      </p:sp>
      <p:sp>
        <p:nvSpPr>
          <p:cNvPr id="4" name="">
            <a:extLst xmlns:a="http://schemas.openxmlformats.org/drawingml/2006/main">
              <a:ext uri="{FF2B5EF4-FFF2-40B4-BE49-F238E27FC236}">
                <a16:creationId xmlns:a16="http://schemas.microsoft.com/office/drawing/2014/main" id="{18A0177F-4DD1-4EDF-A24D-E6DA9E9C07EC}"/>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05</a:t>
            </a:r>
          </a:p>
        </p:txBody>
      </p:sp>
      <p:sp>
        <p:nvSpPr>
          <p:cNvPr id="5" name="">
            <a:extLst xmlns:a="http://schemas.openxmlformats.org/drawingml/2006/main">
              <a:ext uri="{FF2B5EF4-FFF2-40B4-BE49-F238E27FC236}">
                <a16:creationId xmlns:a16="http://schemas.microsoft.com/office/drawing/2014/main" id="{FF2D0A48-9376-48EE-9EB4-20C8DE4A64A1}"/>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43FA3D75-1E49-4614-8E04-9927E600D49E}"/>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Habib Umar bin Abdul Rahman al-Attas (992–1072H).</a:t>
            </a:r>
          </a:p>
        </p:txBody>
      </p:sp>
      <p:sp>
        <p:nvSpPr>
          <p:cNvPr id="7" name="">
            <a:extLst xmlns:a="http://schemas.openxmlformats.org/drawingml/2006/main">
              <a:ext uri="{FF2B5EF4-FFF2-40B4-BE49-F238E27FC236}">
                <a16:creationId xmlns:a16="http://schemas.microsoft.com/office/drawing/2014/main" id="{91294194-DADC-48D0-A6F2-BD25C54CEDE2}"/>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203E5E0B-3E35-4CDF-9320-C32804631993}"/>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Artikel mengaitkan beliau dengan Huraidah, Hadramaut, Yaman.</a:t>
            </a:r>
          </a:p>
        </p:txBody>
      </p:sp>
      <p:sp>
        <p:nvSpPr>
          <p:cNvPr id="9" name="">
            <a:extLst xmlns:a="http://schemas.openxmlformats.org/drawingml/2006/main">
              <a:ext uri="{FF2B5EF4-FFF2-40B4-BE49-F238E27FC236}">
                <a16:creationId xmlns:a16="http://schemas.microsoft.com/office/drawing/2014/main" id="{E2220B29-970A-4709-9498-C37DAE973FE3}"/>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017C658A-6154-4E18-B5A9-A69BFB765D8F}"/>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Menurut riwayat yang dipetik, penduduk meminta susunan zikir ketika menghadapi kemarau, wabak dan persoalan akidah.</a:t>
            </a:r>
          </a:p>
        </p:txBody>
      </p:sp>
    </p:spTree>
    <p:extLst>
      <p:ext uri="{BB962C8B-B14F-4D97-AF65-F5344CB8AC3E}">
        <p14:creationId xmlns:p14="http://schemas.microsoft.com/office/powerpoint/2010/main" val="1392549592"/>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5AC52D-5561-4BAD-BF75-B52C15830D0C}"/>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LATAR SEJARAH</a:t>
            </a:r>
          </a:p>
        </p:txBody>
      </p:sp>
      <p:sp>
        <p:nvSpPr>
          <p:cNvPr id="2" name="">
            <a:extLst xmlns:a="http://schemas.openxmlformats.org/drawingml/2006/main">
              <a:ext uri="{FF2B5EF4-FFF2-40B4-BE49-F238E27FC236}">
                <a16:creationId xmlns:a16="http://schemas.microsoft.com/office/drawing/2014/main" id="{A8F81751-ED86-451D-B483-BC7E639E289A}"/>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Perkembangan di Johor dan Nusantara</a:t>
            </a:r>
          </a:p>
        </p:txBody>
      </p:sp>
      <p:sp>
        <p:nvSpPr>
          <p:cNvPr id="3" name="">
            <a:extLst xmlns:a="http://schemas.openxmlformats.org/drawingml/2006/main">
              <a:ext uri="{FF2B5EF4-FFF2-40B4-BE49-F238E27FC236}">
                <a16:creationId xmlns:a16="http://schemas.microsoft.com/office/drawing/2014/main" id="{FF12D282-66B3-4F25-8D65-DAFBAE7DC875}"/>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102</a:t>
            </a:r>
          </a:p>
        </p:txBody>
      </p:sp>
      <p:sp>
        <p:nvSpPr>
          <p:cNvPr id="4" name="">
            <a:extLst xmlns:a="http://schemas.openxmlformats.org/drawingml/2006/main">
              <a:ext uri="{FF2B5EF4-FFF2-40B4-BE49-F238E27FC236}">
                <a16:creationId xmlns:a16="http://schemas.microsoft.com/office/drawing/2014/main" id="{07CEE9BD-A183-4409-B8FC-395BD1FF8911}"/>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69757207-5DAE-4E1F-93CE-CD1683129005}"/>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EB49E628-4257-494C-B8D8-8C71F34F6819}"/>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1913: pembinaan Madrasah al-Attas al-Arabiyah di Johor Bahru menurut artikel.</a:t>
            </a:r>
          </a:p>
        </p:txBody>
      </p:sp>
      <p:sp>
        <p:nvSpPr>
          <p:cNvPr id="7" name="">
            <a:extLst xmlns:a="http://schemas.openxmlformats.org/drawingml/2006/main">
              <a:ext uri="{FF2B5EF4-FFF2-40B4-BE49-F238E27FC236}">
                <a16:creationId xmlns:a16="http://schemas.microsoft.com/office/drawing/2014/main" id="{0C77DF3F-4D59-420C-8A61-07CCCFA734AD}"/>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B2342213-0291-411E-8099-02449292C3B0}"/>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1922: bukti cetakan doktrin Ratib al-Attas yang penulis gunakan bagi perkembangan di Johor.</a:t>
            </a:r>
          </a:p>
        </p:txBody>
      </p:sp>
      <p:sp>
        <p:nvSpPr>
          <p:cNvPr id="9" name="">
            <a:extLst xmlns:a="http://schemas.openxmlformats.org/drawingml/2006/main">
              <a:ext uri="{FF2B5EF4-FFF2-40B4-BE49-F238E27FC236}">
                <a16:creationId xmlns:a16="http://schemas.microsoft.com/office/drawing/2014/main" id="{2E892DAC-16FA-4915-B200-07E1F6DD2AA2}"/>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1D363CCE-F816-4A57-8C26-C6C670E72501}"/>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1952: cetakan di Singapura. Artikel turut menghuraikan pengamalan di Indonesia dan Brunei.</a:t>
            </a:r>
          </a:p>
        </p:txBody>
      </p:sp>
    </p:spTree>
    <p:extLst>
      <p:ext uri="{BB962C8B-B14F-4D97-AF65-F5344CB8AC3E}">
        <p14:creationId xmlns:p14="http://schemas.microsoft.com/office/powerpoint/2010/main" val="861114860"/>
      </p:ext>
    </p:extLst>
  </p:cSld>
</p:sld>
</file>

<file path=ppt/slides/slide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9D1D45-85AD-41A3-B916-7AF8BD60AF76}"/>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KAEDAH PENGAMALAN</a:t>
            </a:r>
          </a:p>
        </p:txBody>
      </p:sp>
      <p:sp>
        <p:nvSpPr>
          <p:cNvPr id="2" name="">
            <a:extLst xmlns:a="http://schemas.openxmlformats.org/drawingml/2006/main">
              <a:ext uri="{FF2B5EF4-FFF2-40B4-BE49-F238E27FC236}">
                <a16:creationId xmlns:a16="http://schemas.microsoft.com/office/drawing/2014/main" id="{8366EFDF-5E3B-4A23-8961-01C8F521B994}"/>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Susunan sebuah majlis</a:t>
            </a:r>
          </a:p>
        </p:txBody>
      </p:sp>
      <p:sp>
        <p:nvSpPr>
          <p:cNvPr id="3" name="">
            <a:extLst xmlns:a="http://schemas.openxmlformats.org/drawingml/2006/main">
              <a:ext uri="{FF2B5EF4-FFF2-40B4-BE49-F238E27FC236}">
                <a16:creationId xmlns:a16="http://schemas.microsoft.com/office/drawing/2014/main" id="{09913A77-8FCE-419A-BB99-F6D07033CF53}"/>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102–105</a:t>
            </a:r>
          </a:p>
        </p:txBody>
      </p:sp>
      <p:sp>
        <p:nvSpPr>
          <p:cNvPr id="4" name="">
            <a:extLst xmlns:a="http://schemas.openxmlformats.org/drawingml/2006/main">
              <a:ext uri="{FF2B5EF4-FFF2-40B4-BE49-F238E27FC236}">
                <a16:creationId xmlns:a16="http://schemas.microsoft.com/office/drawing/2014/main" id="{7578F6DC-7306-476B-8D61-6119FF690379}"/>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5958FE94-C75F-45FF-9086-EC5BC23A3E87}"/>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EA94DD84-9329-441F-BE0E-E88A51C72B89}"/>
              </a:ext>
            </a:extLst>
          </p:cNvPr>
          <p:cNvSpPr>
            <a:spLocks xmlns:a="http://schemas.openxmlformats.org/drawingml/2006/main" noGrp="1"/>
          </p:cNvSpPr>
          <p:nvPr/>
        </p:nvSpPr>
        <p:spPr>
          <a:xfrm xmlns:a="http://schemas.openxmlformats.org/drawingml/2006/main">
            <a:off x="1447800" y="220027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Pembimbing memberi tazkirah ringkas dan menyatakan hajat perhimpunan.</a:t>
            </a:r>
          </a:p>
        </p:txBody>
      </p:sp>
      <p:sp>
        <p:nvSpPr>
          <p:cNvPr id="7" name="">
            <a:extLst xmlns:a="http://schemas.openxmlformats.org/drawingml/2006/main">
              <a:ext uri="{FF2B5EF4-FFF2-40B4-BE49-F238E27FC236}">
                <a16:creationId xmlns:a16="http://schemas.microsoft.com/office/drawing/2014/main" id="{9B4AFB45-5065-4E7C-A50F-3D57887E19AE}"/>
              </a:ext>
            </a:extLst>
          </p:cNvPr>
          <p:cNvSpPr>
            <a:spLocks xmlns:a="http://schemas.openxmlformats.org/drawingml/2006/main" noGrp="1"/>
          </p:cNvSpPr>
          <p:nvPr/>
        </p:nvSpPr>
        <p:spPr>
          <a:xfrm xmlns:a="http://schemas.openxmlformats.org/drawingml/2006/main">
            <a:off x="647700" y="31718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0BDE6427-C3AB-4F0C-B300-E4B54507E663}"/>
              </a:ext>
            </a:extLst>
          </p:cNvPr>
          <p:cNvSpPr>
            <a:spLocks xmlns:a="http://schemas.openxmlformats.org/drawingml/2006/main" noGrp="1"/>
          </p:cNvSpPr>
          <p:nvPr/>
        </p:nvSpPr>
        <p:spPr>
          <a:xfrm xmlns:a="http://schemas.openxmlformats.org/drawingml/2006/main">
            <a:off x="1447800" y="313372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Pembukaan al-Fatihah dan bacaan al-Hasyr 59:21–24.</a:t>
            </a:r>
          </a:p>
        </p:txBody>
      </p:sp>
      <p:sp>
        <p:nvSpPr>
          <p:cNvPr id="9" name="">
            <a:extLst xmlns:a="http://schemas.openxmlformats.org/drawingml/2006/main">
              <a:ext uri="{FF2B5EF4-FFF2-40B4-BE49-F238E27FC236}">
                <a16:creationId xmlns:a16="http://schemas.microsoft.com/office/drawing/2014/main" id="{134765E5-5325-4674-BD94-823FE092C285}"/>
              </a:ext>
            </a:extLst>
          </p:cNvPr>
          <p:cNvSpPr>
            <a:spLocks xmlns:a="http://schemas.openxmlformats.org/drawingml/2006/main" noGrp="1"/>
          </p:cNvSpPr>
          <p:nvPr/>
        </p:nvSpPr>
        <p:spPr>
          <a:xfrm xmlns:a="http://schemas.openxmlformats.org/drawingml/2006/main">
            <a:off x="647700" y="41052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8FE5D0FA-52C3-44A0-8440-8F8FB5948EBD}"/>
              </a:ext>
            </a:extLst>
          </p:cNvPr>
          <p:cNvSpPr>
            <a:spLocks xmlns:a="http://schemas.openxmlformats.org/drawingml/2006/main" noGrp="1"/>
          </p:cNvSpPr>
          <p:nvPr/>
        </p:nvSpPr>
        <p:spPr>
          <a:xfrm xmlns:a="http://schemas.openxmlformats.org/drawingml/2006/main">
            <a:off x="1447800" y="406717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Bacaan 17 zikir secara berturutan.</a:t>
            </a:r>
          </a:p>
        </p:txBody>
      </p:sp>
      <p:sp>
        <p:nvSpPr>
          <p:cNvPr id="11" name="">
            <a:extLst xmlns:a="http://schemas.openxmlformats.org/drawingml/2006/main">
              <a:ext uri="{FF2B5EF4-FFF2-40B4-BE49-F238E27FC236}">
                <a16:creationId xmlns:a16="http://schemas.microsoft.com/office/drawing/2014/main" id="{215D5EE8-7DB4-4262-93C4-DEB94699F4BC}"/>
              </a:ext>
            </a:extLst>
          </p:cNvPr>
          <p:cNvSpPr>
            <a:spLocks xmlns:a="http://schemas.openxmlformats.org/drawingml/2006/main" noGrp="1"/>
          </p:cNvSpPr>
          <p:nvPr/>
        </p:nvSpPr>
        <p:spPr>
          <a:xfrm xmlns:a="http://schemas.openxmlformats.org/drawingml/2006/main">
            <a:off x="647700" y="50387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04</a:t>
            </a:r>
          </a:p>
        </p:txBody>
      </p:sp>
      <p:sp>
        <p:nvSpPr>
          <p:cNvPr id="12" name="">
            <a:extLst xmlns:a="http://schemas.openxmlformats.org/drawingml/2006/main">
              <a:ext uri="{FF2B5EF4-FFF2-40B4-BE49-F238E27FC236}">
                <a16:creationId xmlns:a16="http://schemas.microsoft.com/office/drawing/2014/main" id="{CAE195D4-0650-48AA-BBB2-06FC06338321}"/>
              </a:ext>
            </a:extLst>
          </p:cNvPr>
          <p:cNvSpPr>
            <a:spLocks xmlns:a="http://schemas.openxmlformats.org/drawingml/2006/main" noGrp="1"/>
          </p:cNvSpPr>
          <p:nvPr/>
        </p:nvSpPr>
        <p:spPr>
          <a:xfrm xmlns:a="http://schemas.openxmlformats.org/drawingml/2006/main">
            <a:off x="1447800" y="500062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Penutup al-Baqarah 2:285–286, al-Fatihah dan doa.</a:t>
            </a:r>
          </a:p>
        </p:txBody>
      </p:sp>
    </p:spTree>
    <p:extLst>
      <p:ext uri="{BB962C8B-B14F-4D97-AF65-F5344CB8AC3E}">
        <p14:creationId xmlns:p14="http://schemas.microsoft.com/office/powerpoint/2010/main" val="780962461"/>
      </p:ext>
    </p:extLst>
  </p:cSld>
</p:sld>
</file>

<file path=ppt/slides/slide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A486DE-38D2-431C-B9D7-1C24B3B16059}"/>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ASAS PENILAIAN</a:t>
            </a:r>
          </a:p>
        </p:txBody>
      </p:sp>
      <p:sp>
        <p:nvSpPr>
          <p:cNvPr id="2" name="">
            <a:extLst xmlns:a="http://schemas.openxmlformats.org/drawingml/2006/main">
              <a:ext uri="{FF2B5EF4-FFF2-40B4-BE49-F238E27FC236}">
                <a16:creationId xmlns:a16="http://schemas.microsoft.com/office/drawing/2014/main" id="{4E8CFB58-0B36-44E5-80C7-5501FD39CF25}"/>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Nas dan ijtihad penyusun</a:t>
            </a:r>
          </a:p>
        </p:txBody>
      </p:sp>
      <p:sp>
        <p:nvSpPr>
          <p:cNvPr id="3" name="">
            <a:extLst xmlns:a="http://schemas.openxmlformats.org/drawingml/2006/main">
              <a:ext uri="{FF2B5EF4-FFF2-40B4-BE49-F238E27FC236}">
                <a16:creationId xmlns:a16="http://schemas.microsoft.com/office/drawing/2014/main" id="{4088DA47-1CC0-45AC-8C0D-9C6B54FDF627}"/>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103–105</a:t>
            </a:r>
          </a:p>
        </p:txBody>
      </p:sp>
      <p:sp>
        <p:nvSpPr>
          <p:cNvPr id="4" name="">
            <a:extLst xmlns:a="http://schemas.openxmlformats.org/drawingml/2006/main">
              <a:ext uri="{FF2B5EF4-FFF2-40B4-BE49-F238E27FC236}">
                <a16:creationId xmlns:a16="http://schemas.microsoft.com/office/drawing/2014/main" id="{8322EF7D-5D3D-459E-BC81-4E42BC6DA569}"/>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08</a:t>
            </a:r>
          </a:p>
        </p:txBody>
      </p:sp>
      <p:sp>
        <p:nvSpPr>
          <p:cNvPr id="5" name="">
            <a:extLst xmlns:a="http://schemas.openxmlformats.org/drawingml/2006/main">
              <a:ext uri="{FF2B5EF4-FFF2-40B4-BE49-F238E27FC236}">
                <a16:creationId xmlns:a16="http://schemas.microsoft.com/office/drawing/2014/main" id="{62557C67-EA28-438C-BA99-F2AE4C163A5B}"/>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B63650DD-9F68-4088-AB28-1706932D8D33}"/>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Sebahagian lafaz mempunyai sandaran khusus dalam hadis yang dipetik artikel.</a:t>
            </a:r>
          </a:p>
        </p:txBody>
      </p:sp>
      <p:sp>
        <p:nvSpPr>
          <p:cNvPr id="7" name="">
            <a:extLst xmlns:a="http://schemas.openxmlformats.org/drawingml/2006/main">
              <a:ext uri="{FF2B5EF4-FFF2-40B4-BE49-F238E27FC236}">
                <a16:creationId xmlns:a16="http://schemas.microsoft.com/office/drawing/2014/main" id="{1EB57978-60CB-4EA6-8875-20B90C267210}"/>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BDC82A6-5C3C-48E0-ABD8-CD4184F027EA}"/>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Sebahagian doa ialah susunan atau gabungan penyusun yang penulis nilai selaras dengan prinsip umum nas.</a:t>
            </a:r>
          </a:p>
        </p:txBody>
      </p:sp>
      <p:sp>
        <p:nvSpPr>
          <p:cNvPr id="9" name="">
            <a:extLst xmlns:a="http://schemas.openxmlformats.org/drawingml/2006/main">
              <a:ext uri="{FF2B5EF4-FFF2-40B4-BE49-F238E27FC236}">
                <a16:creationId xmlns:a16="http://schemas.microsoft.com/office/drawing/2014/main" id="{5048A453-9F83-408C-B268-D2BC2896AB52}"/>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523DDAD2-0989-4584-BDD6-22B68E7370B7}"/>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Sandaran keutamaan zikir tidak semestinya menetapkan keseluruhan susunan dan bilangan ratib secara khusus.</a:t>
            </a:r>
          </a:p>
        </p:txBody>
      </p:sp>
    </p:spTree>
    <p:extLst>
      <p:ext uri="{BB962C8B-B14F-4D97-AF65-F5344CB8AC3E}">
        <p14:creationId xmlns:p14="http://schemas.microsoft.com/office/powerpoint/2010/main" val="1779152878"/>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74F185-641C-4B49-90FC-C789BB37BB8D}"/>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01 DARIPADA 17</a:t>
            </a:r>
          </a:p>
        </p:txBody>
      </p:sp>
      <p:sp>
        <p:nvSpPr>
          <p:cNvPr id="2" name="">
            <a:extLst xmlns:a="http://schemas.openxmlformats.org/drawingml/2006/main">
              <a:ext uri="{FF2B5EF4-FFF2-40B4-BE49-F238E27FC236}">
                <a16:creationId xmlns:a16="http://schemas.microsoft.com/office/drawing/2014/main" id="{D85872AE-C974-4B0A-8C76-487758DF524B}"/>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Ta‘awuz pertama</a:t>
            </a:r>
          </a:p>
        </p:txBody>
      </p:sp>
      <p:sp>
        <p:nvSpPr>
          <p:cNvPr id="3" name="">
            <a:extLst xmlns:a="http://schemas.openxmlformats.org/drawingml/2006/main">
              <a:ext uri="{FF2B5EF4-FFF2-40B4-BE49-F238E27FC236}">
                <a16:creationId xmlns:a16="http://schemas.microsoft.com/office/drawing/2014/main" id="{3F4C7A1C-F86B-43D6-B368-908803D523E6}"/>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8137DFD8-F3E4-4D23-909C-1AF90ACDDFEB}"/>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09</a:t>
            </a:r>
          </a:p>
        </p:txBody>
      </p:sp>
      <p:sp>
        <p:nvSpPr>
          <p:cNvPr id="5" name="">
            <a:extLst xmlns:a="http://schemas.openxmlformats.org/drawingml/2006/main">
              <a:ext uri="{FF2B5EF4-FFF2-40B4-BE49-F238E27FC236}">
                <a16:creationId xmlns:a16="http://schemas.microsoft.com/office/drawing/2014/main" id="{015786A3-9BBC-4768-85B0-A70F84CAFD8C}"/>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E0D20FD7-379C-4380-B6C0-040488AB7628}"/>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9B4CBB93-B20E-4F4E-96B6-898AA7C14D48}"/>
              </a:ext>
            </a:extLst>
          </p:cNvPr>
          <p:cNvPicPr>
            <a:picLocks xmlns:a="http://schemas.openxmlformats.org/drawingml/2006/main" noChangeAspect="1"/>
          </p:cNvPicPr>
          <p:nvPr/>
        </p:nvPicPr>
        <p:blipFill>
          <a:blip xmlns:r="http://schemas.openxmlformats.org/officeDocument/2006/relationships" xmlns:a="http://schemas.openxmlformats.org/drawingml/2006/main" r:embed="R858e1a9cf1174962"/>
          <a:stretch xmlns:a="http://schemas.openxmlformats.org/drawingml/2006/main"/>
        </p:blipFill>
        <p:spPr>
          <a:xfrm xmlns:a="http://schemas.openxmlformats.org/drawingml/2006/main">
            <a:off x="2977444" y="2619375"/>
            <a:ext cx="6237111"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1C074ED-C51E-4C35-88E7-884887FC941E}"/>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7768AD2F-B7CE-45CB-A57F-CD2987A471B9}"/>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perlindungan Allah Yang Maha Mendengar lagi Maha Mengetahui daripada syaitan yang direjam.</a:t>
            </a:r>
          </a:p>
        </p:txBody>
      </p:sp>
      <p:sp>
        <p:nvSpPr>
          <p:cNvPr id="10" name="">
            <a:extLst xmlns:a="http://schemas.openxmlformats.org/drawingml/2006/main">
              <a:ext uri="{FF2B5EF4-FFF2-40B4-BE49-F238E27FC236}">
                <a16:creationId xmlns:a16="http://schemas.microsoft.com/office/drawing/2014/main" id="{A7176C63-BC27-4152-A917-D1FEC3D79911}"/>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Lafaz sepadan dengan sebahagian doa dalam Sunan Abi Dawud 775. Ulangan 3 kali di sini mengikut artikel.</a:t>
            </a:r>
          </a:p>
        </p:txBody>
      </p:sp>
    </p:spTree>
    <p:extLst>
      <p:ext uri="{BB962C8B-B14F-4D97-AF65-F5344CB8AC3E}">
        <p14:creationId xmlns:p14="http://schemas.microsoft.com/office/powerpoint/2010/main" val="932377829"/>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C58A43-1DE4-46FB-B645-9EA3A022AB9F}"/>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02 DARIPADA 17</a:t>
            </a:r>
          </a:p>
        </p:txBody>
      </p:sp>
      <p:sp>
        <p:nvSpPr>
          <p:cNvPr id="2" name="">
            <a:extLst xmlns:a="http://schemas.openxmlformats.org/drawingml/2006/main">
              <a:ext uri="{FF2B5EF4-FFF2-40B4-BE49-F238E27FC236}">
                <a16:creationId xmlns:a16="http://schemas.microsoft.com/office/drawing/2014/main" id="{11535D80-429E-4B9C-90F6-ADA202DD9167}"/>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Ta‘awuz kedua</a:t>
            </a:r>
          </a:p>
        </p:txBody>
      </p:sp>
      <p:sp>
        <p:nvSpPr>
          <p:cNvPr id="3" name="">
            <a:extLst xmlns:a="http://schemas.openxmlformats.org/drawingml/2006/main">
              <a:ext uri="{FF2B5EF4-FFF2-40B4-BE49-F238E27FC236}">
                <a16:creationId xmlns:a16="http://schemas.microsoft.com/office/drawing/2014/main" id="{DF046433-A5B6-4F4B-B539-E2BE773C1479}"/>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41414D4C-FEEC-4D5E-9BB9-53F63EE1380E}"/>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2A04EEFC-F6ED-45AB-97F3-BEA42E43B49B}"/>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F25D7D31-5664-4661-BBA3-0E5B384FF6EA}"/>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4F7372A2-B0ED-40EA-BD6F-D764AAD218FE}"/>
              </a:ext>
            </a:extLst>
          </p:cNvPr>
          <p:cNvPicPr>
            <a:picLocks xmlns:a="http://schemas.openxmlformats.org/drawingml/2006/main" noChangeAspect="1"/>
          </p:cNvPicPr>
          <p:nvPr/>
        </p:nvPicPr>
        <p:blipFill>
          <a:blip xmlns:r="http://schemas.openxmlformats.org/officeDocument/2006/relationships" xmlns:a="http://schemas.openxmlformats.org/drawingml/2006/main" r:embed="R07076b2d1bb94269"/>
          <a:stretch xmlns:a="http://schemas.openxmlformats.org/drawingml/2006/main"/>
        </p:blipFill>
        <p:spPr>
          <a:xfrm xmlns:a="http://schemas.openxmlformats.org/drawingml/2006/main">
            <a:off x="2943860" y="2619375"/>
            <a:ext cx="6304280"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D7287C4-0287-4A9C-A80E-40E88C4E5D98}"/>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5629513F-E670-40CB-81F7-7058A4610B4C}"/>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perlindungan dengan kalimah Allah yang sempurna daripada kejahatan makhluk-Nya.</a:t>
            </a:r>
          </a:p>
        </p:txBody>
      </p:sp>
      <p:sp>
        <p:nvSpPr>
          <p:cNvPr id="10" name="">
            <a:extLst xmlns:a="http://schemas.openxmlformats.org/drawingml/2006/main">
              <a:ext uri="{FF2B5EF4-FFF2-40B4-BE49-F238E27FC236}">
                <a16:creationId xmlns:a16="http://schemas.microsoft.com/office/drawing/2014/main" id="{4E063913-521F-4F77-AA47-C74C3BFBF9A6}"/>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Lafaz terdapat dalam Sahih Muslim 2708a. Bilangan 3 kali dalam ratib mengikut huraian artikel.</a:t>
            </a:r>
          </a:p>
        </p:txBody>
      </p:sp>
    </p:spTree>
    <p:extLst>
      <p:ext uri="{BB962C8B-B14F-4D97-AF65-F5344CB8AC3E}">
        <p14:creationId xmlns:p14="http://schemas.microsoft.com/office/powerpoint/2010/main" val="917203157"/>
      </p:ext>
    </p:extLst>
  </p:cSld>
</p:sld>
</file>

<file path=ppt/slides/slide1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7CC8EE-5399-4E35-B513-B32F83CC2405}"/>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03 DARIPADA 17</a:t>
            </a:r>
          </a:p>
        </p:txBody>
      </p:sp>
      <p:sp>
        <p:nvSpPr>
          <p:cNvPr id="2" name="">
            <a:extLst xmlns:a="http://schemas.openxmlformats.org/drawingml/2006/main">
              <a:ext uri="{FF2B5EF4-FFF2-40B4-BE49-F238E27FC236}">
                <a16:creationId xmlns:a16="http://schemas.microsoft.com/office/drawing/2014/main" id="{F3B9BCA0-B72A-48B7-B915-48CD96C81355}"/>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Basmalah perlindungan</a:t>
            </a:r>
          </a:p>
        </p:txBody>
      </p:sp>
      <p:sp>
        <p:nvSpPr>
          <p:cNvPr id="3" name="">
            <a:extLst xmlns:a="http://schemas.openxmlformats.org/drawingml/2006/main">
              <a:ext uri="{FF2B5EF4-FFF2-40B4-BE49-F238E27FC236}">
                <a16:creationId xmlns:a16="http://schemas.microsoft.com/office/drawing/2014/main" id="{D4F31471-07A9-4DBF-8BBB-033B4A375F86}"/>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9373A3E4-EC86-421D-82C6-24E3815A60EF}"/>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11</a:t>
            </a:r>
          </a:p>
        </p:txBody>
      </p:sp>
      <p:sp>
        <p:nvSpPr>
          <p:cNvPr id="5" name="">
            <a:extLst xmlns:a="http://schemas.openxmlformats.org/drawingml/2006/main">
              <a:ext uri="{FF2B5EF4-FFF2-40B4-BE49-F238E27FC236}">
                <a16:creationId xmlns:a16="http://schemas.microsoft.com/office/drawing/2014/main" id="{8847D669-028B-40B8-8AEF-A0F713AB5650}"/>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92A2A1B8-3AF9-48B6-8CEA-87D69CFDACFC}"/>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1CE1D49E-8E61-4BFB-9499-1AD6BFBEFB02}"/>
              </a:ext>
            </a:extLst>
          </p:cNvPr>
          <p:cNvPicPr>
            <a:picLocks xmlns:a="http://schemas.openxmlformats.org/drawingml/2006/main" noChangeAspect="1"/>
          </p:cNvPicPr>
          <p:nvPr/>
        </p:nvPicPr>
        <p:blipFill>
          <a:blip xmlns:r="http://schemas.openxmlformats.org/officeDocument/2006/relationships" xmlns:a="http://schemas.openxmlformats.org/drawingml/2006/main" r:embed="R6ef3cc59c13e46f2"/>
          <a:stretch xmlns:a="http://schemas.openxmlformats.org/drawingml/2006/main"/>
        </p:blipFill>
        <p:spPr>
          <a:xfrm xmlns:a="http://schemas.openxmlformats.org/drawingml/2006/main">
            <a:off x="714375" y="2647753"/>
            <a:ext cx="10763250" cy="75287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D0F1BE8-EF7E-4AF6-B8E8-27DB6D3C1810}"/>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E0ADA05E-1337-40E3-B36E-0712FD07431D}"/>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Dengan nama Allah, memohon perlindungan daripada kemudaratan di bumi dan di langit. Allah Maha Mendengar lagi Maha Mengetahui.</a:t>
            </a:r>
          </a:p>
        </p:txBody>
      </p:sp>
      <p:sp>
        <p:nvSpPr>
          <p:cNvPr id="10" name="">
            <a:extLst xmlns:a="http://schemas.openxmlformats.org/drawingml/2006/main">
              <a:ext uri="{FF2B5EF4-FFF2-40B4-BE49-F238E27FC236}">
                <a16:creationId xmlns:a16="http://schemas.microsoft.com/office/drawing/2014/main" id="{0A9B5861-4DAF-4840-9344-5792EF2133ED}"/>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Sunan Abi Dawud 5088 menyebut lafaz ini dan bacaan 3 kali pada pagi dan petang.</a:t>
            </a:r>
          </a:p>
        </p:txBody>
      </p:sp>
    </p:spTree>
    <p:extLst>
      <p:ext uri="{BB962C8B-B14F-4D97-AF65-F5344CB8AC3E}">
        <p14:creationId xmlns:p14="http://schemas.microsoft.com/office/powerpoint/2010/main" val="274904866"/>
      </p:ext>
    </p:extLst>
  </p:cSld>
</p:sld>
</file>

<file path=ppt/slides/slide1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926C24-6FAA-44EF-AC2D-BB24AE4BFAC6}"/>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04 DARIPADA 17</a:t>
            </a:r>
          </a:p>
        </p:txBody>
      </p:sp>
      <p:sp>
        <p:nvSpPr>
          <p:cNvPr id="2" name="">
            <a:extLst xmlns:a="http://schemas.openxmlformats.org/drawingml/2006/main">
              <a:ext uri="{FF2B5EF4-FFF2-40B4-BE49-F238E27FC236}">
                <a16:creationId xmlns:a16="http://schemas.microsoft.com/office/drawing/2014/main" id="{52F2A3E7-1774-4F1C-AF78-D4E7C686D88D}"/>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Basmalah dan hauqalah</a:t>
            </a:r>
          </a:p>
        </p:txBody>
      </p:sp>
      <p:sp>
        <p:nvSpPr>
          <p:cNvPr id="3" name="">
            <a:extLst xmlns:a="http://schemas.openxmlformats.org/drawingml/2006/main">
              <a:ext uri="{FF2B5EF4-FFF2-40B4-BE49-F238E27FC236}">
                <a16:creationId xmlns:a16="http://schemas.microsoft.com/office/drawing/2014/main" id="{F1F2D901-722B-462B-8037-891AC6C4B818}"/>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B273AEE9-22D0-4672-9CBF-3276C9D09088}"/>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12</a:t>
            </a:r>
          </a:p>
        </p:txBody>
      </p:sp>
      <p:sp>
        <p:nvSpPr>
          <p:cNvPr id="5" name="">
            <a:extLst xmlns:a="http://schemas.openxmlformats.org/drawingml/2006/main">
              <a:ext uri="{FF2B5EF4-FFF2-40B4-BE49-F238E27FC236}">
                <a16:creationId xmlns:a16="http://schemas.microsoft.com/office/drawing/2014/main" id="{6F8C11A4-C5C9-4461-B68B-68491E10E382}"/>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0CA5BE7D-CBC0-4207-9154-78732BF2D679}"/>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10 kali</a:t>
            </a:r>
          </a:p>
        </p:txBody>
      </p:sp>
      <p:pic>
        <p:nvPicPr>
          <p:cNvPr id="7" name="">
            <a:extLst xmlns:a="http://schemas.openxmlformats.org/drawingml/2006/main">
              <a:ext uri="{FF2B5EF4-FFF2-40B4-BE49-F238E27FC236}">
                <a16:creationId xmlns:a16="http://schemas.microsoft.com/office/drawing/2014/main" id="{5CDCED81-CF87-4ECF-AD7C-DE226B04074B}"/>
              </a:ext>
            </a:extLst>
          </p:cNvPr>
          <p:cNvPicPr>
            <a:picLocks xmlns:a="http://schemas.openxmlformats.org/drawingml/2006/main" noChangeAspect="1"/>
          </p:cNvPicPr>
          <p:nvPr/>
        </p:nvPicPr>
        <p:blipFill>
          <a:blip xmlns:r="http://schemas.openxmlformats.org/officeDocument/2006/relationships" xmlns:a="http://schemas.openxmlformats.org/drawingml/2006/main" r:embed="R0f920d1c20274c45"/>
          <a:stretch xmlns:a="http://schemas.openxmlformats.org/drawingml/2006/main"/>
        </p:blipFill>
        <p:spPr>
          <a:xfrm xmlns:a="http://schemas.openxmlformats.org/drawingml/2006/main">
            <a:off x="1469571" y="2619375"/>
            <a:ext cx="9252857"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44D851E-60E8-4EED-B9BB-F45A72B27619}"/>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8AACE47C-BAAD-43DB-BBDB-557CBAEA677F}"/>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Dengan nama Allah Yang Maha Pemurah lagi Maha Penyayang. Tiada daya dan kekuatan kecuali dengan pertolongan Allah.</a:t>
            </a:r>
          </a:p>
        </p:txBody>
      </p:sp>
      <p:sp>
        <p:nvSpPr>
          <p:cNvPr id="10" name="">
            <a:extLst xmlns:a="http://schemas.openxmlformats.org/drawingml/2006/main">
              <a:ext uri="{FF2B5EF4-FFF2-40B4-BE49-F238E27FC236}">
                <a16:creationId xmlns:a16="http://schemas.microsoft.com/office/drawing/2014/main" id="{32F9AC91-2F02-4B95-8878-02603ABE0F97}"/>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Asas hauqalah: Sahih al-Bukhari 6384. Gabungan lengkap dan ulangan 10 kali mengikut susunan ratib dalam artikel.</a:t>
            </a:r>
          </a:p>
        </p:txBody>
      </p:sp>
    </p:spTree>
    <p:extLst>
      <p:ext uri="{BB962C8B-B14F-4D97-AF65-F5344CB8AC3E}">
        <p14:creationId xmlns:p14="http://schemas.microsoft.com/office/powerpoint/2010/main" val="1442271717"/>
      </p:ext>
    </p:extLst>
  </p:cSld>
</p:sld>
</file>

<file path=ppt/slides/slide1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7B6965-154E-4AE5-8A55-F4724ADFDED1}"/>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05 DARIPADA 17</a:t>
            </a:r>
          </a:p>
        </p:txBody>
      </p:sp>
      <p:sp>
        <p:nvSpPr>
          <p:cNvPr id="2" name="">
            <a:extLst xmlns:a="http://schemas.openxmlformats.org/drawingml/2006/main">
              <a:ext uri="{FF2B5EF4-FFF2-40B4-BE49-F238E27FC236}">
                <a16:creationId xmlns:a16="http://schemas.microsoft.com/office/drawing/2014/main" id="{6F9707EB-F408-4222-945A-3C8AB6062CDE}"/>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Basmalah</a:t>
            </a:r>
          </a:p>
        </p:txBody>
      </p:sp>
      <p:sp>
        <p:nvSpPr>
          <p:cNvPr id="3" name="">
            <a:extLst xmlns:a="http://schemas.openxmlformats.org/drawingml/2006/main">
              <a:ext uri="{FF2B5EF4-FFF2-40B4-BE49-F238E27FC236}">
                <a16:creationId xmlns:a16="http://schemas.microsoft.com/office/drawing/2014/main" id="{7B7468DA-16E5-4023-9477-701CDD5E5402}"/>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9A6A89F0-00A2-4746-87EE-7301E04C595B}"/>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13</a:t>
            </a:r>
          </a:p>
        </p:txBody>
      </p:sp>
      <p:sp>
        <p:nvSpPr>
          <p:cNvPr id="5" name="">
            <a:extLst xmlns:a="http://schemas.openxmlformats.org/drawingml/2006/main">
              <a:ext uri="{FF2B5EF4-FFF2-40B4-BE49-F238E27FC236}">
                <a16:creationId xmlns:a16="http://schemas.microsoft.com/office/drawing/2014/main" id="{40EB3327-7C84-431E-B569-C133F25A2F89}"/>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CBD01A3C-AC35-4B6A-8979-2D4F7F78A724}"/>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1B3EBA13-E45C-4D74-A83A-FEE7C1697F3B}"/>
              </a:ext>
            </a:extLst>
          </p:cNvPr>
          <p:cNvPicPr>
            <a:picLocks xmlns:a="http://schemas.openxmlformats.org/drawingml/2006/main" noChangeAspect="1"/>
          </p:cNvPicPr>
          <p:nvPr/>
        </p:nvPicPr>
        <p:blipFill>
          <a:blip xmlns:r="http://schemas.openxmlformats.org/officeDocument/2006/relationships" xmlns:a="http://schemas.openxmlformats.org/drawingml/2006/main" r:embed="R78cb8d113bd94853"/>
          <a:stretch xmlns:a="http://schemas.openxmlformats.org/drawingml/2006/main"/>
        </p:blipFill>
        <p:spPr>
          <a:xfrm xmlns:a="http://schemas.openxmlformats.org/drawingml/2006/main">
            <a:off x="4266458" y="2619375"/>
            <a:ext cx="3659084"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3F944A-023E-43EC-826A-F9034A5269E2}"/>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C569C573-D88A-4F98-B7C3-568773E90775}"/>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Dengan nama Allah Yang Maha Pemurah lagi Maha Penyayang.</a:t>
            </a:r>
          </a:p>
        </p:txBody>
      </p:sp>
      <p:sp>
        <p:nvSpPr>
          <p:cNvPr id="10" name="">
            <a:extLst xmlns:a="http://schemas.openxmlformats.org/drawingml/2006/main">
              <a:ext uri="{FF2B5EF4-FFF2-40B4-BE49-F238E27FC236}">
                <a16:creationId xmlns:a16="http://schemas.microsoft.com/office/drawing/2014/main" id="{A01FD315-261F-46F6-925D-FBA279333851}"/>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Basmalah terdapat dalam al-Fatihah 1:1 dan surat Rasulullah SAW dalam Sahih al-Bukhari 7.</a:t>
            </a:r>
          </a:p>
        </p:txBody>
      </p:sp>
    </p:spTree>
    <p:extLst>
      <p:ext uri="{BB962C8B-B14F-4D97-AF65-F5344CB8AC3E}">
        <p14:creationId xmlns:p14="http://schemas.microsoft.com/office/powerpoint/2010/main" val="1143512578"/>
      </p:ext>
    </p:extLst>
  </p:cSld>
</p:sld>
</file>

<file path=ppt/slides/slide1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8A1A63-9FF2-4FF4-AB3C-E5E0B817C1C0}"/>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06 DARIPADA 17</a:t>
            </a:r>
          </a:p>
        </p:txBody>
      </p:sp>
      <p:sp>
        <p:nvSpPr>
          <p:cNvPr id="2" name="">
            <a:extLst xmlns:a="http://schemas.openxmlformats.org/drawingml/2006/main">
              <a:ext uri="{FF2B5EF4-FFF2-40B4-BE49-F238E27FC236}">
                <a16:creationId xmlns:a16="http://schemas.microsoft.com/office/drawing/2014/main" id="{CD895074-CB50-4F97-9A05-E6E2C41623E0}"/>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Perlindungan dan tawakal</a:t>
            </a:r>
          </a:p>
        </p:txBody>
      </p:sp>
      <p:sp>
        <p:nvSpPr>
          <p:cNvPr id="3" name="">
            <a:extLst xmlns:a="http://schemas.openxmlformats.org/drawingml/2006/main">
              <a:ext uri="{FF2B5EF4-FFF2-40B4-BE49-F238E27FC236}">
                <a16:creationId xmlns:a16="http://schemas.microsoft.com/office/drawing/2014/main" id="{D4E7C900-BCBE-412B-976B-4646EEA33943}"/>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DB1B3A34-231B-4034-8970-BCDF931992E5}"/>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14</a:t>
            </a:r>
          </a:p>
        </p:txBody>
      </p:sp>
      <p:sp>
        <p:nvSpPr>
          <p:cNvPr id="5" name="">
            <a:extLst xmlns:a="http://schemas.openxmlformats.org/drawingml/2006/main">
              <a:ext uri="{FF2B5EF4-FFF2-40B4-BE49-F238E27FC236}">
                <a16:creationId xmlns:a16="http://schemas.microsoft.com/office/drawing/2014/main" id="{2FF43A7B-504F-4A8B-823C-C458CEA7067E}"/>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FC246864-FAA8-4B42-AFAA-F26D3F3CA715}"/>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C9D96AF9-ACED-4202-AD62-9F85A2595EA1}"/>
              </a:ext>
            </a:extLst>
          </p:cNvPr>
          <p:cNvPicPr>
            <a:picLocks xmlns:a="http://schemas.openxmlformats.org/drawingml/2006/main" noChangeAspect="1"/>
          </p:cNvPicPr>
          <p:nvPr/>
        </p:nvPicPr>
        <p:blipFill>
          <a:blip xmlns:r="http://schemas.openxmlformats.org/officeDocument/2006/relationships" xmlns:a="http://schemas.openxmlformats.org/drawingml/2006/main" r:embed="R566e82433dd442e4"/>
          <a:stretch xmlns:a="http://schemas.openxmlformats.org/drawingml/2006/main"/>
        </p:blipFill>
        <p:spPr>
          <a:xfrm xmlns:a="http://schemas.openxmlformats.org/drawingml/2006/main">
            <a:off x="3083564" y="2619375"/>
            <a:ext cx="6024872"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DBF9B7E-B470-496E-9192-F8303D7DD597}"/>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4BECA117-62AB-46BF-8E17-7C7B30734BA1}"/>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Dengan nama Allah, kami berlindung kepada Allah dan bertawakal kepada-Nya.</a:t>
            </a:r>
          </a:p>
        </p:txBody>
      </p:sp>
      <p:sp>
        <p:nvSpPr>
          <p:cNvPr id="10" name="">
            <a:extLst xmlns:a="http://schemas.openxmlformats.org/drawingml/2006/main">
              <a:ext uri="{FF2B5EF4-FFF2-40B4-BE49-F238E27FC236}">
                <a16:creationId xmlns:a16="http://schemas.microsoft.com/office/drawing/2014/main" id="{63C879FC-9BBF-4140-99DE-F361D6B337A8}"/>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Artikel menyifatkan doa ini sebagai ijtihad penyusun dengan prinsip menyebut nama Allah.</a:t>
            </a:r>
          </a:p>
        </p:txBody>
      </p:sp>
    </p:spTree>
    <p:extLst>
      <p:ext uri="{BB962C8B-B14F-4D97-AF65-F5344CB8AC3E}">
        <p14:creationId xmlns:p14="http://schemas.microsoft.com/office/powerpoint/2010/main" val="887371082"/>
      </p:ext>
    </p:extLst>
  </p:cSld>
</p:sld>
</file>

<file path=ppt/slides/slide1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342D6C-F46C-4E72-BA83-1BC711A0E616}"/>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07 DARIPADA 17</a:t>
            </a:r>
          </a:p>
        </p:txBody>
      </p:sp>
      <p:sp>
        <p:nvSpPr>
          <p:cNvPr id="2" name="">
            <a:extLst xmlns:a="http://schemas.openxmlformats.org/drawingml/2006/main">
              <a:ext uri="{FF2B5EF4-FFF2-40B4-BE49-F238E27FC236}">
                <a16:creationId xmlns:a16="http://schemas.microsoft.com/office/drawing/2014/main" id="{E5A86CE6-4217-4072-B0DA-477F355684F2}"/>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Pengakuan iman</a:t>
            </a:r>
          </a:p>
        </p:txBody>
      </p:sp>
      <p:sp>
        <p:nvSpPr>
          <p:cNvPr id="3" name="">
            <a:extLst xmlns:a="http://schemas.openxmlformats.org/drawingml/2006/main">
              <a:ext uri="{FF2B5EF4-FFF2-40B4-BE49-F238E27FC236}">
                <a16:creationId xmlns:a16="http://schemas.microsoft.com/office/drawing/2014/main" id="{7A2FC271-EB07-492B-BBF3-D738C0735EC0}"/>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634A8290-8CFA-4462-B254-45AC69AFF0FD}"/>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15</a:t>
            </a:r>
          </a:p>
        </p:txBody>
      </p:sp>
      <p:sp>
        <p:nvSpPr>
          <p:cNvPr id="5" name="">
            <a:extLst xmlns:a="http://schemas.openxmlformats.org/drawingml/2006/main">
              <a:ext uri="{FF2B5EF4-FFF2-40B4-BE49-F238E27FC236}">
                <a16:creationId xmlns:a16="http://schemas.microsoft.com/office/drawing/2014/main" id="{FE397B22-F5EE-4C3A-ABB2-65DEC515ED71}"/>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A5F90C54-EDCD-4045-84BE-79C7DDC0A7DB}"/>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877D47E4-8685-497C-9637-686D1814313A}"/>
              </a:ext>
            </a:extLst>
          </p:cNvPr>
          <p:cNvPicPr>
            <a:picLocks xmlns:a="http://schemas.openxmlformats.org/drawingml/2006/main" noChangeAspect="1"/>
          </p:cNvPicPr>
          <p:nvPr/>
        </p:nvPicPr>
        <p:blipFill>
          <a:blip xmlns:r="http://schemas.openxmlformats.org/officeDocument/2006/relationships" xmlns:a="http://schemas.openxmlformats.org/drawingml/2006/main" r:embed="Rd6f650d66bf3422f"/>
          <a:stretch xmlns:a="http://schemas.openxmlformats.org/drawingml/2006/main"/>
        </p:blipFill>
        <p:spPr>
          <a:xfrm xmlns:a="http://schemas.openxmlformats.org/drawingml/2006/main">
            <a:off x="2610407" y="2619375"/>
            <a:ext cx="6971187"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CAB9A37-33C0-4540-B3B3-1F912D49CAFC}"/>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F13426DC-F56B-4517-8973-250CFAB2C50B}"/>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Dengan nama Allah, kami beriman kepada Allah. Sesiapa yang beriman kepada Allah, tiada ketakutan atasnya, menurut maksud yang diberikan artikel.</a:t>
            </a:r>
          </a:p>
        </p:txBody>
      </p:sp>
      <p:sp>
        <p:nvSpPr>
          <p:cNvPr id="10" name="">
            <a:extLst xmlns:a="http://schemas.openxmlformats.org/drawingml/2006/main">
              <a:ext uri="{FF2B5EF4-FFF2-40B4-BE49-F238E27FC236}">
                <a16:creationId xmlns:a16="http://schemas.microsoft.com/office/drawing/2014/main" id="{2E3A6011-41F5-4FDA-8A79-B390D4476D8A}"/>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Menurut artikel, lafaz doa ini ialah ijtihad penyusun, bukan petikan langsung al-Quran atau hadis.</a:t>
            </a:r>
          </a:p>
        </p:txBody>
      </p:sp>
    </p:spTree>
    <p:extLst>
      <p:ext uri="{BB962C8B-B14F-4D97-AF65-F5344CB8AC3E}">
        <p14:creationId xmlns:p14="http://schemas.microsoft.com/office/powerpoint/2010/main" val="1580692829"/>
      </p:ext>
    </p:extLst>
  </p:cSld>
</p:sld>
</file>

<file path=ppt/slides/slide1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C60CC9-2EA8-42E0-8ADA-CDC7F7BA2701}"/>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08 DARIPADA 17</a:t>
            </a:r>
          </a:p>
        </p:txBody>
      </p:sp>
      <p:sp>
        <p:nvSpPr>
          <p:cNvPr id="2" name="">
            <a:extLst xmlns:a="http://schemas.openxmlformats.org/drawingml/2006/main">
              <a:ext uri="{FF2B5EF4-FFF2-40B4-BE49-F238E27FC236}">
                <a16:creationId xmlns:a16="http://schemas.microsoft.com/office/drawing/2014/main" id="{A7C5800F-55FB-43F3-A662-243F2420C48C}"/>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Tasbih pengagungan</a:t>
            </a:r>
          </a:p>
        </p:txBody>
      </p:sp>
      <p:sp>
        <p:nvSpPr>
          <p:cNvPr id="3" name="">
            <a:extLst xmlns:a="http://schemas.openxmlformats.org/drawingml/2006/main">
              <a:ext uri="{FF2B5EF4-FFF2-40B4-BE49-F238E27FC236}">
                <a16:creationId xmlns:a16="http://schemas.microsoft.com/office/drawing/2014/main" id="{C1AC7E21-7E65-4B4D-A12A-49FD89DF0157}"/>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a:t>
            </a:r>
          </a:p>
        </p:txBody>
      </p:sp>
      <p:sp>
        <p:nvSpPr>
          <p:cNvPr id="4" name="">
            <a:extLst xmlns:a="http://schemas.openxmlformats.org/drawingml/2006/main">
              <a:ext uri="{FF2B5EF4-FFF2-40B4-BE49-F238E27FC236}">
                <a16:creationId xmlns:a16="http://schemas.microsoft.com/office/drawing/2014/main" id="{424104A1-1EFD-4BA9-92D9-8DA9041F0702}"/>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16</a:t>
            </a:r>
          </a:p>
        </p:txBody>
      </p:sp>
      <p:sp>
        <p:nvSpPr>
          <p:cNvPr id="5" name="">
            <a:extLst xmlns:a="http://schemas.openxmlformats.org/drawingml/2006/main">
              <a:ext uri="{FF2B5EF4-FFF2-40B4-BE49-F238E27FC236}">
                <a16:creationId xmlns:a16="http://schemas.microsoft.com/office/drawing/2014/main" id="{56BD1E63-99D6-40F0-BBBD-31FFD2007F6B}"/>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600F76BF-D919-418B-8CE9-A2BF44A0C8D3}"/>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B4413D94-379A-4E52-833E-1AD4F9A0BB9E}"/>
              </a:ext>
            </a:extLst>
          </p:cNvPr>
          <p:cNvPicPr>
            <a:picLocks xmlns:a="http://schemas.openxmlformats.org/drawingml/2006/main" noChangeAspect="1"/>
          </p:cNvPicPr>
          <p:nvPr/>
        </p:nvPicPr>
        <p:blipFill>
          <a:blip xmlns:r="http://schemas.openxmlformats.org/officeDocument/2006/relationships" xmlns:a="http://schemas.openxmlformats.org/drawingml/2006/main" r:embed="Re51fae6e118e46f9"/>
          <a:stretch xmlns:a="http://schemas.openxmlformats.org/drawingml/2006/main"/>
        </p:blipFill>
        <p:spPr>
          <a:xfrm xmlns:a="http://schemas.openxmlformats.org/drawingml/2006/main">
            <a:off x="2082223" y="2619375"/>
            <a:ext cx="8027555"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AA8975C-093A-4F4C-9A3E-9C9CF8341CA1}"/>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6D2048BE-1FEC-478D-A11A-1729D3744851}"/>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Menyucikan Allah dan mengagungkan kemuliaan serta kebesaran-Nya.</a:t>
            </a:r>
          </a:p>
        </p:txBody>
      </p:sp>
      <p:sp>
        <p:nvSpPr>
          <p:cNvPr id="10" name="">
            <a:extLst xmlns:a="http://schemas.openxmlformats.org/drawingml/2006/main">
              <a:ext uri="{FF2B5EF4-FFF2-40B4-BE49-F238E27FC236}">
                <a16:creationId xmlns:a16="http://schemas.microsoft.com/office/drawing/2014/main" id="{FAB23C51-7479-4811-9DB4-94F7B036EA95}"/>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Lafaz diperbetulkan mengikut Quran NU Online. Cetakan artikel menggugurkan kalimah Allah selepas tasbih kedua.</a:t>
            </a:r>
          </a:p>
        </p:txBody>
      </p:sp>
    </p:spTree>
    <p:extLst>
      <p:ext uri="{BB962C8B-B14F-4D97-AF65-F5344CB8AC3E}">
        <p14:creationId xmlns:p14="http://schemas.microsoft.com/office/powerpoint/2010/main" val="873647656"/>
      </p:ext>
    </p:extLst>
  </p:cSld>
</p:sld>
</file>

<file path=ppt/slides/slide1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8470C5-8A95-47B1-AA08-30BA219995B9}"/>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09 DARIPADA 17</a:t>
            </a:r>
          </a:p>
        </p:txBody>
      </p:sp>
      <p:sp>
        <p:nvSpPr>
          <p:cNvPr id="2" name="">
            <a:extLst xmlns:a="http://schemas.openxmlformats.org/drawingml/2006/main">
              <a:ext uri="{FF2B5EF4-FFF2-40B4-BE49-F238E27FC236}">
                <a16:creationId xmlns:a16="http://schemas.microsoft.com/office/drawing/2014/main" id="{6DE2AAD0-44FF-4212-8377-D2567418B737}"/>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Tasbih dan tahmid</a:t>
            </a:r>
          </a:p>
        </p:txBody>
      </p:sp>
      <p:sp>
        <p:nvSpPr>
          <p:cNvPr id="3" name="">
            <a:extLst xmlns:a="http://schemas.openxmlformats.org/drawingml/2006/main">
              <a:ext uri="{FF2B5EF4-FFF2-40B4-BE49-F238E27FC236}">
                <a16:creationId xmlns:a16="http://schemas.microsoft.com/office/drawing/2014/main" id="{73125C07-F4A2-4568-9AB4-43C74BAB4EED}"/>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103–104</a:t>
            </a:r>
          </a:p>
        </p:txBody>
      </p:sp>
      <p:sp>
        <p:nvSpPr>
          <p:cNvPr id="4" name="">
            <a:extLst xmlns:a="http://schemas.openxmlformats.org/drawingml/2006/main">
              <a:ext uri="{FF2B5EF4-FFF2-40B4-BE49-F238E27FC236}">
                <a16:creationId xmlns:a16="http://schemas.microsoft.com/office/drawing/2014/main" id="{AB201A84-029F-4806-B90F-048CD7FE8FC9}"/>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17</a:t>
            </a:r>
          </a:p>
        </p:txBody>
      </p:sp>
      <p:sp>
        <p:nvSpPr>
          <p:cNvPr id="5" name="">
            <a:extLst xmlns:a="http://schemas.openxmlformats.org/drawingml/2006/main">
              <a:ext uri="{FF2B5EF4-FFF2-40B4-BE49-F238E27FC236}">
                <a16:creationId xmlns:a16="http://schemas.microsoft.com/office/drawing/2014/main" id="{C493EED1-4F18-46ED-9D77-8EEEAB589154}"/>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279F72DE-0390-4B95-AED8-EFAA6810CC76}"/>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0384A9CA-F88A-4782-BBC5-06F892A6D6F4}"/>
              </a:ext>
            </a:extLst>
          </p:cNvPr>
          <p:cNvPicPr>
            <a:picLocks xmlns:a="http://schemas.openxmlformats.org/drawingml/2006/main" noChangeAspect="1"/>
          </p:cNvPicPr>
          <p:nvPr/>
        </p:nvPicPr>
        <p:blipFill>
          <a:blip xmlns:r="http://schemas.openxmlformats.org/officeDocument/2006/relationships" xmlns:a="http://schemas.openxmlformats.org/drawingml/2006/main" r:embed="Rb52a6290ab924c49"/>
          <a:stretch xmlns:a="http://schemas.openxmlformats.org/drawingml/2006/main"/>
        </p:blipFill>
        <p:spPr>
          <a:xfrm xmlns:a="http://schemas.openxmlformats.org/drawingml/2006/main">
            <a:off x="3293856" y="2619375"/>
            <a:ext cx="5604287"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3ADFF57-F8ED-41E8-9326-62E23ECF0436}"/>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EEFFBADC-99BE-4B7E-8AD2-A39C290EFEB0}"/>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Maha Suci Allah dan segala puji bagi-Nya. Maha Suci Allah Yang Maha Agung.</a:t>
            </a:r>
          </a:p>
        </p:txBody>
      </p:sp>
      <p:sp>
        <p:nvSpPr>
          <p:cNvPr id="10" name="">
            <a:extLst xmlns:a="http://schemas.openxmlformats.org/drawingml/2006/main">
              <a:ext uri="{FF2B5EF4-FFF2-40B4-BE49-F238E27FC236}">
                <a16:creationId xmlns:a16="http://schemas.microsoft.com/office/drawing/2014/main" id="{E7545BC7-32D3-43FA-BC7B-0792A8E813B4}"/>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Lafaz sepadan dengan Sahih al-Bukhari 6682 dan Sahih Muslim 2694. Ulangan 3 kali mengikut artikel.</a:t>
            </a:r>
          </a:p>
        </p:txBody>
      </p:sp>
    </p:spTree>
    <p:extLst>
      <p:ext uri="{BB962C8B-B14F-4D97-AF65-F5344CB8AC3E}">
        <p14:creationId xmlns:p14="http://schemas.microsoft.com/office/powerpoint/2010/main" val="1265507810"/>
      </p:ext>
    </p:extLst>
  </p:cSld>
</p:sld>
</file>

<file path=ppt/slides/slide1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6F5F9D-ABBD-4AF3-8DC5-8DAF8E063AC8}"/>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10 DARIPADA 17</a:t>
            </a:r>
          </a:p>
        </p:txBody>
      </p:sp>
      <p:sp>
        <p:nvSpPr>
          <p:cNvPr id="2" name="">
            <a:extLst xmlns:a="http://schemas.openxmlformats.org/drawingml/2006/main">
              <a:ext uri="{FF2B5EF4-FFF2-40B4-BE49-F238E27FC236}">
                <a16:creationId xmlns:a16="http://schemas.microsoft.com/office/drawing/2014/main" id="{D5198995-DC6B-425B-B169-EBDA3FFA24C5}"/>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Empat kalimah zikir</a:t>
            </a:r>
          </a:p>
        </p:txBody>
      </p:sp>
      <p:sp>
        <p:nvSpPr>
          <p:cNvPr id="3" name="">
            <a:extLst xmlns:a="http://schemas.openxmlformats.org/drawingml/2006/main">
              <a:ext uri="{FF2B5EF4-FFF2-40B4-BE49-F238E27FC236}">
                <a16:creationId xmlns:a16="http://schemas.microsoft.com/office/drawing/2014/main" id="{82597E81-910B-47E8-8D19-77A4D4C9E0FF}"/>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2EC18A18-27DD-40A9-83D1-6BFE3B3DB6F1}"/>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18</a:t>
            </a:r>
          </a:p>
        </p:txBody>
      </p:sp>
      <p:sp>
        <p:nvSpPr>
          <p:cNvPr id="5" name="">
            <a:extLst xmlns:a="http://schemas.openxmlformats.org/drawingml/2006/main">
              <a:ext uri="{FF2B5EF4-FFF2-40B4-BE49-F238E27FC236}">
                <a16:creationId xmlns:a16="http://schemas.microsoft.com/office/drawing/2014/main" id="{F32C7C0A-550B-43CF-AA02-0DEB3AFCC211}"/>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422FE659-906F-4829-9E61-4566A578C4AA}"/>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4 kali</a:t>
            </a:r>
          </a:p>
        </p:txBody>
      </p:sp>
      <p:pic>
        <p:nvPicPr>
          <p:cNvPr id="7" name="">
            <a:extLst xmlns:a="http://schemas.openxmlformats.org/drawingml/2006/main">
              <a:ext uri="{FF2B5EF4-FFF2-40B4-BE49-F238E27FC236}">
                <a16:creationId xmlns:a16="http://schemas.microsoft.com/office/drawing/2014/main" id="{68A2BAE2-F1B1-4ADE-87CA-27C335E41F88}"/>
              </a:ext>
            </a:extLst>
          </p:cNvPr>
          <p:cNvPicPr>
            <a:picLocks xmlns:a="http://schemas.openxmlformats.org/drawingml/2006/main" noChangeAspect="1"/>
          </p:cNvPicPr>
          <p:nvPr/>
        </p:nvPicPr>
        <p:blipFill>
          <a:blip xmlns:r="http://schemas.openxmlformats.org/officeDocument/2006/relationships" xmlns:a="http://schemas.openxmlformats.org/drawingml/2006/main" r:embed="Reea65c2e4fad44d8"/>
          <a:stretch xmlns:a="http://schemas.openxmlformats.org/drawingml/2006/main"/>
        </p:blipFill>
        <p:spPr>
          <a:xfrm xmlns:a="http://schemas.openxmlformats.org/drawingml/2006/main">
            <a:off x="2644441" y="2619375"/>
            <a:ext cx="6903118"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B5716E6-9091-4667-8256-2599CDB6B29E}"/>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981CC75C-3988-4154-8561-C133F12BF285}"/>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Maha Suci Allah. Segala puji bagi Allah. Tiada Tuhan selain Allah. Allah Maha Besar.</a:t>
            </a:r>
          </a:p>
        </p:txBody>
      </p:sp>
      <p:sp>
        <p:nvSpPr>
          <p:cNvPr id="10" name="">
            <a:extLst xmlns:a="http://schemas.openxmlformats.org/drawingml/2006/main">
              <a:ext uri="{FF2B5EF4-FFF2-40B4-BE49-F238E27FC236}">
                <a16:creationId xmlns:a16="http://schemas.microsoft.com/office/drawing/2014/main" id="{1E289201-47DD-4E52-B390-51E5AEFDD3CD}"/>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Keutamaan empat kalimah terdapat dalam Sahih Muslim 2137a. Ulangan 4 kali mengikut artikel.</a:t>
            </a:r>
          </a:p>
        </p:txBody>
      </p:sp>
    </p:spTree>
    <p:extLst>
      <p:ext uri="{BB962C8B-B14F-4D97-AF65-F5344CB8AC3E}">
        <p14:creationId xmlns:p14="http://schemas.microsoft.com/office/powerpoint/2010/main" val="119668464"/>
      </p:ext>
    </p:extLst>
  </p:cSld>
</p:sld>
</file>

<file path=ppt/slides/slide1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EE7EAA-E728-4928-A069-9DB344A13DA6}"/>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11 DARIPADA 17</a:t>
            </a:r>
          </a:p>
        </p:txBody>
      </p:sp>
      <p:sp>
        <p:nvSpPr>
          <p:cNvPr id="2" name="">
            <a:extLst xmlns:a="http://schemas.openxmlformats.org/drawingml/2006/main">
              <a:ext uri="{FF2B5EF4-FFF2-40B4-BE49-F238E27FC236}">
                <a16:creationId xmlns:a16="http://schemas.microsoft.com/office/drawing/2014/main" id="{DB5D0F5E-1BF8-4BF7-9ADC-A43057B0F34F}"/>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Doa al-Lutf</a:t>
            </a:r>
          </a:p>
        </p:txBody>
      </p:sp>
      <p:sp>
        <p:nvSpPr>
          <p:cNvPr id="3" name="">
            <a:extLst xmlns:a="http://schemas.openxmlformats.org/drawingml/2006/main">
              <a:ext uri="{FF2B5EF4-FFF2-40B4-BE49-F238E27FC236}">
                <a16:creationId xmlns:a16="http://schemas.microsoft.com/office/drawing/2014/main" id="{BE797BD4-5680-46F0-94B3-B04FB4220C96}"/>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C3ABF4C8-D0DA-4FA5-84C5-3D17BF9AA071}"/>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19</a:t>
            </a:r>
          </a:p>
        </p:txBody>
      </p:sp>
      <p:sp>
        <p:nvSpPr>
          <p:cNvPr id="5" name="">
            <a:extLst xmlns:a="http://schemas.openxmlformats.org/drawingml/2006/main">
              <a:ext uri="{FF2B5EF4-FFF2-40B4-BE49-F238E27FC236}">
                <a16:creationId xmlns:a16="http://schemas.microsoft.com/office/drawing/2014/main" id="{2F8A5237-6CE0-4B40-AF90-EFBD0D82F88B}"/>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AC3FD4F6-E1A3-407D-8259-0397405A5554}"/>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DAC2B544-6EB3-4756-A000-DE66A9A3A190}"/>
              </a:ext>
            </a:extLst>
          </p:cNvPr>
          <p:cNvPicPr>
            <a:picLocks xmlns:a="http://schemas.openxmlformats.org/drawingml/2006/main" noChangeAspect="1"/>
          </p:cNvPicPr>
          <p:nvPr/>
        </p:nvPicPr>
        <p:blipFill>
          <a:blip xmlns:r="http://schemas.openxmlformats.org/officeDocument/2006/relationships" xmlns:a="http://schemas.openxmlformats.org/drawingml/2006/main" r:embed="Ra8820c9fe3df4617"/>
          <a:stretch xmlns:a="http://schemas.openxmlformats.org/drawingml/2006/main"/>
        </p:blipFill>
        <p:spPr>
          <a:xfrm xmlns:a="http://schemas.openxmlformats.org/drawingml/2006/main">
            <a:off x="3501571" y="2619375"/>
            <a:ext cx="5188857" cy="1047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417223-7D1C-443B-95CE-4B5CA1E04DB9}"/>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9BE296C8-F6D7-4A8D-A4E1-3DA43D673D70}"/>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kelembutan dan belas kasih Allah yang mengetahui serta memerhatikan keadaan makhluk-Nya.</a:t>
            </a:r>
          </a:p>
        </p:txBody>
      </p:sp>
      <p:sp>
        <p:nvSpPr>
          <p:cNvPr id="10" name="">
            <a:extLst xmlns:a="http://schemas.openxmlformats.org/drawingml/2006/main">
              <a:ext uri="{FF2B5EF4-FFF2-40B4-BE49-F238E27FC236}">
                <a16:creationId xmlns:a16="http://schemas.microsoft.com/office/drawing/2014/main" id="{8C632387-6177-4646-A843-AC5F02AE9C0E}"/>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Doa susunan penyusun menurut artikel. Asas umum berdoa dengan nama Allah: al-A‘raf 7:180 dan al-Isra’ 17:110.</a:t>
            </a:r>
          </a:p>
        </p:txBody>
      </p:sp>
    </p:spTree>
    <p:extLst>
      <p:ext uri="{BB962C8B-B14F-4D97-AF65-F5344CB8AC3E}">
        <p14:creationId xmlns:p14="http://schemas.microsoft.com/office/powerpoint/2010/main" val="1086494232"/>
      </p:ext>
    </p:extLst>
  </p:cSld>
</p:sld>
</file>

<file path=ppt/slides/slide2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5A87EC-4224-43A8-8033-180610DA58EF}"/>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12 DARIPADA 17</a:t>
            </a:r>
          </a:p>
        </p:txBody>
      </p:sp>
      <p:sp>
        <p:nvSpPr>
          <p:cNvPr id="2" name="">
            <a:extLst xmlns:a="http://schemas.openxmlformats.org/drawingml/2006/main">
              <a:ext uri="{FF2B5EF4-FFF2-40B4-BE49-F238E27FC236}">
                <a16:creationId xmlns:a16="http://schemas.microsoft.com/office/drawing/2014/main" id="{A8F74FF9-E2E5-459A-8559-C12422695BC6}"/>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Doa Ya Latif</a:t>
            </a:r>
          </a:p>
        </p:txBody>
      </p:sp>
      <p:sp>
        <p:nvSpPr>
          <p:cNvPr id="3" name="">
            <a:extLst xmlns:a="http://schemas.openxmlformats.org/drawingml/2006/main">
              <a:ext uri="{FF2B5EF4-FFF2-40B4-BE49-F238E27FC236}">
                <a16:creationId xmlns:a16="http://schemas.microsoft.com/office/drawing/2014/main" id="{5C1109EC-8085-4DC0-9768-71A492163227}"/>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6BC15717-A021-4BBB-9FE6-0E4D1F5221C8}"/>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20</a:t>
            </a:r>
          </a:p>
        </p:txBody>
      </p:sp>
      <p:sp>
        <p:nvSpPr>
          <p:cNvPr id="5" name="">
            <a:extLst xmlns:a="http://schemas.openxmlformats.org/drawingml/2006/main">
              <a:ext uri="{FF2B5EF4-FFF2-40B4-BE49-F238E27FC236}">
                <a16:creationId xmlns:a16="http://schemas.microsoft.com/office/drawing/2014/main" id="{657075FD-EABD-4DDD-AF7E-B1B1CB952CDE}"/>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B9FDF210-AF3D-48B4-9CA7-A5E5A55B2207}"/>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3 kali</a:t>
            </a:r>
          </a:p>
        </p:txBody>
      </p:sp>
      <p:pic>
        <p:nvPicPr>
          <p:cNvPr id="7" name="">
            <a:extLst xmlns:a="http://schemas.openxmlformats.org/drawingml/2006/main">
              <a:ext uri="{FF2B5EF4-FFF2-40B4-BE49-F238E27FC236}">
                <a16:creationId xmlns:a16="http://schemas.microsoft.com/office/drawing/2014/main" id="{971DD51C-EE9A-4B4A-BFF9-D369819BE5E2}"/>
              </a:ext>
            </a:extLst>
          </p:cNvPr>
          <p:cNvPicPr>
            <a:picLocks xmlns:a="http://schemas.openxmlformats.org/drawingml/2006/main" noChangeAspect="1"/>
          </p:cNvPicPr>
          <p:nvPr/>
        </p:nvPicPr>
        <p:blipFill>
          <a:blip xmlns:r="http://schemas.openxmlformats.org/officeDocument/2006/relationships" xmlns:a="http://schemas.openxmlformats.org/drawingml/2006/main" r:embed="Rbcf95280e40d4f56"/>
          <a:stretch xmlns:a="http://schemas.openxmlformats.org/drawingml/2006/main"/>
        </p:blipFill>
        <p:spPr>
          <a:xfrm xmlns:a="http://schemas.openxmlformats.org/drawingml/2006/main">
            <a:off x="714375" y="2659164"/>
            <a:ext cx="10763250" cy="73004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7EEA60F-D88E-411C-AD56-9B84C087122F}"/>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574A729B-BB68-4B0F-8074-0FF7DCB08272}"/>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belas kasih Allah dalam segala ketentuan bagi diri dan seluruh umat Islam.</a:t>
            </a:r>
          </a:p>
        </p:txBody>
      </p:sp>
      <p:sp>
        <p:nvSpPr>
          <p:cNvPr id="10" name="">
            <a:extLst xmlns:a="http://schemas.openxmlformats.org/drawingml/2006/main">
              <a:ext uri="{FF2B5EF4-FFF2-40B4-BE49-F238E27FC236}">
                <a16:creationId xmlns:a16="http://schemas.microsoft.com/office/drawing/2014/main" id="{AE003B6D-A21F-4965-859D-C052ADE4B425}"/>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Doa susunan penyusun menurut artikel. Nama al-Latif disebut dalam al-Shura 42:19 dan al-Mulk 67:14.</a:t>
            </a:r>
          </a:p>
        </p:txBody>
      </p:sp>
    </p:spTree>
    <p:extLst>
      <p:ext uri="{BB962C8B-B14F-4D97-AF65-F5344CB8AC3E}">
        <p14:creationId xmlns:p14="http://schemas.microsoft.com/office/powerpoint/2010/main" val="2037258876"/>
      </p:ext>
    </p:extLst>
  </p:cSld>
</p:sld>
</file>

<file path=ppt/slides/slide2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A88858-B5B3-44A1-82AF-93F0BEC04D49}"/>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13 DARIPADA 17</a:t>
            </a:r>
          </a:p>
        </p:txBody>
      </p:sp>
      <p:sp>
        <p:nvSpPr>
          <p:cNvPr id="2" name="">
            <a:extLst xmlns:a="http://schemas.openxmlformats.org/drawingml/2006/main">
              <a:ext uri="{FF2B5EF4-FFF2-40B4-BE49-F238E27FC236}">
                <a16:creationId xmlns:a16="http://schemas.microsoft.com/office/drawing/2014/main" id="{02513370-CCDC-47DA-8F8B-32BFA421A48F}"/>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Tahlil</a:t>
            </a:r>
          </a:p>
        </p:txBody>
      </p:sp>
      <p:sp>
        <p:nvSpPr>
          <p:cNvPr id="3" name="">
            <a:extLst xmlns:a="http://schemas.openxmlformats.org/drawingml/2006/main">
              <a:ext uri="{FF2B5EF4-FFF2-40B4-BE49-F238E27FC236}">
                <a16:creationId xmlns:a16="http://schemas.microsoft.com/office/drawing/2014/main" id="{465EA5D4-BB88-4FA9-B9DF-D48E6E2EEC4C}"/>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3EE04CBA-B82A-42A1-965C-5ACEBF574D60}"/>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21</a:t>
            </a:r>
          </a:p>
        </p:txBody>
      </p:sp>
      <p:sp>
        <p:nvSpPr>
          <p:cNvPr id="5" name="">
            <a:extLst xmlns:a="http://schemas.openxmlformats.org/drawingml/2006/main">
              <a:ext uri="{FF2B5EF4-FFF2-40B4-BE49-F238E27FC236}">
                <a16:creationId xmlns:a16="http://schemas.microsoft.com/office/drawing/2014/main" id="{A6DA82F8-722F-4DBB-8982-03E453B4E2EB}"/>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3FB7AD21-B2EF-4D40-BF03-D6672641E281}"/>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40–100 kali</a:t>
            </a:r>
          </a:p>
        </p:txBody>
      </p:sp>
      <p:pic>
        <p:nvPicPr>
          <p:cNvPr id="7" name="">
            <a:extLst xmlns:a="http://schemas.openxmlformats.org/drawingml/2006/main">
              <a:ext uri="{FF2B5EF4-FFF2-40B4-BE49-F238E27FC236}">
                <a16:creationId xmlns:a16="http://schemas.microsoft.com/office/drawing/2014/main" id="{06B999AD-6738-4CAF-82D9-3E5D44A2BCAA}"/>
              </a:ext>
            </a:extLst>
          </p:cNvPr>
          <p:cNvPicPr>
            <a:picLocks xmlns:a="http://schemas.openxmlformats.org/drawingml/2006/main" noChangeAspect="1"/>
          </p:cNvPicPr>
          <p:nvPr/>
        </p:nvPicPr>
        <p:blipFill>
          <a:blip xmlns:r="http://schemas.openxmlformats.org/officeDocument/2006/relationships" xmlns:a="http://schemas.openxmlformats.org/drawingml/2006/main" r:embed="R2d507e5a5f1741da"/>
          <a:stretch xmlns:a="http://schemas.openxmlformats.org/drawingml/2006/main"/>
        </p:blipFill>
        <p:spPr>
          <a:xfrm xmlns:a="http://schemas.openxmlformats.org/drawingml/2006/main">
            <a:off x="5062663" y="2619375"/>
            <a:ext cx="2066674"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0E5D008-A188-443C-AE4B-C92816BA10C7}"/>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C0EDAD1B-DB29-4BCC-97CA-A5219C7122DC}"/>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Tiada Tuhan melainkan Allah.</a:t>
            </a:r>
          </a:p>
        </p:txBody>
      </p:sp>
      <p:sp>
        <p:nvSpPr>
          <p:cNvPr id="10" name="">
            <a:extLst xmlns:a="http://schemas.openxmlformats.org/drawingml/2006/main">
              <a:ext uri="{FF2B5EF4-FFF2-40B4-BE49-F238E27FC236}">
                <a16:creationId xmlns:a16="http://schemas.microsoft.com/office/drawing/2014/main" id="{2D8E52DF-F053-4636-B8AF-42FF3A8585FB}"/>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Asas kalimah tauhid: Sahih al-Bukhari 8. Julat 40–100 kali di sini ialah bilangan dalam artikel.</a:t>
            </a:r>
          </a:p>
        </p:txBody>
      </p:sp>
    </p:spTree>
    <p:extLst>
      <p:ext uri="{BB962C8B-B14F-4D97-AF65-F5344CB8AC3E}">
        <p14:creationId xmlns:p14="http://schemas.microsoft.com/office/powerpoint/2010/main" val="1727281853"/>
      </p:ext>
    </p:extLst>
  </p:cSld>
</p:sld>
</file>

<file path=ppt/slides/slide2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69AC33-6D16-42FF-942B-990B27C706A7}"/>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14 DARIPADA 17</a:t>
            </a:r>
          </a:p>
        </p:txBody>
      </p:sp>
      <p:sp>
        <p:nvSpPr>
          <p:cNvPr id="2" name="">
            <a:extLst xmlns:a="http://schemas.openxmlformats.org/drawingml/2006/main">
              <a:ext uri="{FF2B5EF4-FFF2-40B4-BE49-F238E27FC236}">
                <a16:creationId xmlns:a16="http://schemas.microsoft.com/office/drawing/2014/main" id="{A74DE517-DE3D-44C1-B586-DEF04B77C451}"/>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Hasbalah</a:t>
            </a:r>
          </a:p>
        </p:txBody>
      </p:sp>
      <p:sp>
        <p:nvSpPr>
          <p:cNvPr id="3" name="">
            <a:extLst xmlns:a="http://schemas.openxmlformats.org/drawingml/2006/main">
              <a:ext uri="{FF2B5EF4-FFF2-40B4-BE49-F238E27FC236}">
                <a16:creationId xmlns:a16="http://schemas.microsoft.com/office/drawing/2014/main" id="{0D0C6543-7832-4B21-B56B-BB418A65180F}"/>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4080B695-E283-4870-BE4D-E042A197F1AD}"/>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22</a:t>
            </a:r>
          </a:p>
        </p:txBody>
      </p:sp>
      <p:sp>
        <p:nvSpPr>
          <p:cNvPr id="5" name="">
            <a:extLst xmlns:a="http://schemas.openxmlformats.org/drawingml/2006/main">
              <a:ext uri="{FF2B5EF4-FFF2-40B4-BE49-F238E27FC236}">
                <a16:creationId xmlns:a16="http://schemas.microsoft.com/office/drawing/2014/main" id="{75218B30-60F0-448F-A751-9BF74D28B7E4}"/>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16110B15-7559-402D-BFD7-DDD0848D0D0F}"/>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7 kali</a:t>
            </a:r>
          </a:p>
        </p:txBody>
      </p:sp>
      <p:pic>
        <p:nvPicPr>
          <p:cNvPr id="7" name="">
            <a:extLst xmlns:a="http://schemas.openxmlformats.org/drawingml/2006/main">
              <a:ext uri="{FF2B5EF4-FFF2-40B4-BE49-F238E27FC236}">
                <a16:creationId xmlns:a16="http://schemas.microsoft.com/office/drawing/2014/main" id="{71EADD6F-E55B-4C58-96A9-D9A56401762D}"/>
              </a:ext>
            </a:extLst>
          </p:cNvPr>
          <p:cNvPicPr>
            <a:picLocks xmlns:a="http://schemas.openxmlformats.org/drawingml/2006/main" noChangeAspect="1"/>
          </p:cNvPicPr>
          <p:nvPr/>
        </p:nvPicPr>
        <p:blipFill>
          <a:blip xmlns:r="http://schemas.openxmlformats.org/officeDocument/2006/relationships" xmlns:a="http://schemas.openxmlformats.org/drawingml/2006/main" r:embed="Re8b08d8d2a8843b6"/>
          <a:stretch xmlns:a="http://schemas.openxmlformats.org/drawingml/2006/main"/>
        </p:blipFill>
        <p:spPr>
          <a:xfrm xmlns:a="http://schemas.openxmlformats.org/drawingml/2006/main">
            <a:off x="4340060" y="2619375"/>
            <a:ext cx="3511880"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4497756-8C8F-4309-AA2F-D90B3857DB2B}"/>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98BE6BA2-B3ED-40D6-886A-32727684C422}"/>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Cukuplah Allah bagi kami dan Dia sebaik-baik tempat menyerahkan urusan.</a:t>
            </a:r>
          </a:p>
        </p:txBody>
      </p:sp>
      <p:sp>
        <p:nvSpPr>
          <p:cNvPr id="10" name="">
            <a:extLst xmlns:a="http://schemas.openxmlformats.org/drawingml/2006/main">
              <a:ext uri="{FF2B5EF4-FFF2-40B4-BE49-F238E27FC236}">
                <a16:creationId xmlns:a16="http://schemas.microsoft.com/office/drawing/2014/main" id="{039D4CB9-AA73-4162-8B1A-EA79B1B1012F}"/>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Lafaz merupakan petikan Ali ‘Imran 3:173, juga dalam Sahih al-Bukhari 4563. Ulangan 7 kali mengikut artikel.</a:t>
            </a:r>
          </a:p>
        </p:txBody>
      </p:sp>
    </p:spTree>
    <p:extLst>
      <p:ext uri="{BB962C8B-B14F-4D97-AF65-F5344CB8AC3E}">
        <p14:creationId xmlns:p14="http://schemas.microsoft.com/office/powerpoint/2010/main" val="1813591782"/>
      </p:ext>
    </p:extLst>
  </p:cSld>
</p:sld>
</file>

<file path=ppt/slides/slide2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05496B-CF18-4E47-A2A7-4AE32DE47828}"/>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15 DARIPADA 17</a:t>
            </a:r>
          </a:p>
        </p:txBody>
      </p:sp>
      <p:sp>
        <p:nvSpPr>
          <p:cNvPr id="2" name="">
            <a:extLst xmlns:a="http://schemas.openxmlformats.org/drawingml/2006/main">
              <a:ext uri="{FF2B5EF4-FFF2-40B4-BE49-F238E27FC236}">
                <a16:creationId xmlns:a16="http://schemas.microsoft.com/office/drawing/2014/main" id="{DEF2653E-460C-497D-99E0-E317B232B8E9}"/>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Selawat</a:t>
            </a:r>
          </a:p>
        </p:txBody>
      </p:sp>
      <p:sp>
        <p:nvSpPr>
          <p:cNvPr id="3" name="">
            <a:extLst xmlns:a="http://schemas.openxmlformats.org/drawingml/2006/main">
              <a:ext uri="{FF2B5EF4-FFF2-40B4-BE49-F238E27FC236}">
                <a16:creationId xmlns:a16="http://schemas.microsoft.com/office/drawing/2014/main" id="{F871037E-75DF-42FE-8244-FF0D6460B9C6}"/>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4C1CB115-E417-4250-86D3-7681DAEBE300}"/>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23</a:t>
            </a:r>
          </a:p>
        </p:txBody>
      </p:sp>
      <p:sp>
        <p:nvSpPr>
          <p:cNvPr id="5" name="">
            <a:extLst xmlns:a="http://schemas.openxmlformats.org/drawingml/2006/main">
              <a:ext uri="{FF2B5EF4-FFF2-40B4-BE49-F238E27FC236}">
                <a16:creationId xmlns:a16="http://schemas.microsoft.com/office/drawing/2014/main" id="{A077FDFD-8A12-4E29-AD84-8574C06D80A3}"/>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8EF10012-58E6-445C-ADED-D11788DAE783}"/>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11 kali</a:t>
            </a:r>
          </a:p>
        </p:txBody>
      </p:sp>
      <p:pic>
        <p:nvPicPr>
          <p:cNvPr id="7" name="">
            <a:extLst xmlns:a="http://schemas.openxmlformats.org/drawingml/2006/main">
              <a:ext uri="{FF2B5EF4-FFF2-40B4-BE49-F238E27FC236}">
                <a16:creationId xmlns:a16="http://schemas.microsoft.com/office/drawing/2014/main" id="{C6914F34-456C-4592-AC5D-07B78C63F411}"/>
              </a:ext>
            </a:extLst>
          </p:cNvPr>
          <p:cNvPicPr>
            <a:picLocks xmlns:a="http://schemas.openxmlformats.org/drawingml/2006/main" noChangeAspect="1"/>
          </p:cNvPicPr>
          <p:nvPr/>
        </p:nvPicPr>
        <p:blipFill>
          <a:blip xmlns:r="http://schemas.openxmlformats.org/officeDocument/2006/relationships" xmlns:a="http://schemas.openxmlformats.org/drawingml/2006/main" r:embed="R5f4984bc496a44c4"/>
          <a:stretch xmlns:a="http://schemas.openxmlformats.org/drawingml/2006/main"/>
        </p:blipFill>
        <p:spPr>
          <a:xfrm xmlns:a="http://schemas.openxmlformats.org/drawingml/2006/main">
            <a:off x="2868015" y="2619375"/>
            <a:ext cx="6455971"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AAEBA13-506D-4847-A795-B72B416E2D1A}"/>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DAD19E81-F667-43DF-961E-699E9C5ED426}"/>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selawat dan salam Allah ke atas Nabi Muhammad SAW.</a:t>
            </a:r>
          </a:p>
        </p:txBody>
      </p:sp>
      <p:sp>
        <p:nvSpPr>
          <p:cNvPr id="10" name="">
            <a:extLst xmlns:a="http://schemas.openxmlformats.org/drawingml/2006/main">
              <a:ext uri="{FF2B5EF4-FFF2-40B4-BE49-F238E27FC236}">
                <a16:creationId xmlns:a16="http://schemas.microsoft.com/office/drawing/2014/main" id="{55AC3874-C161-408D-949E-C9903F8DA897}"/>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Asas umum selawat: al-Ahzab 33:56. Slaid mengekalkan lafaz susunan ratib dan bilangan 11 kali dalam artikel.</a:t>
            </a:r>
          </a:p>
        </p:txBody>
      </p:sp>
    </p:spTree>
    <p:extLst>
      <p:ext uri="{BB962C8B-B14F-4D97-AF65-F5344CB8AC3E}">
        <p14:creationId xmlns:p14="http://schemas.microsoft.com/office/powerpoint/2010/main" val="157503751"/>
      </p:ext>
    </p:extLst>
  </p:cSld>
</p:sld>
</file>

<file path=ppt/slides/slide2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63AF69-29D7-44FF-93F1-F3B5BC78FC34}"/>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16 DARIPADA 17</a:t>
            </a:r>
          </a:p>
        </p:txBody>
      </p:sp>
      <p:sp>
        <p:nvSpPr>
          <p:cNvPr id="2" name="">
            <a:extLst xmlns:a="http://schemas.openxmlformats.org/drawingml/2006/main">
              <a:ext uri="{FF2B5EF4-FFF2-40B4-BE49-F238E27FC236}">
                <a16:creationId xmlns:a16="http://schemas.microsoft.com/office/drawing/2014/main" id="{07521782-91A2-46E9-8AC7-383B43708B98}"/>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Istighfar</a:t>
            </a:r>
          </a:p>
        </p:txBody>
      </p:sp>
      <p:sp>
        <p:nvSpPr>
          <p:cNvPr id="3" name="">
            <a:extLst xmlns:a="http://schemas.openxmlformats.org/drawingml/2006/main">
              <a:ext uri="{FF2B5EF4-FFF2-40B4-BE49-F238E27FC236}">
                <a16:creationId xmlns:a16="http://schemas.microsoft.com/office/drawing/2014/main" id="{5EA7C739-ABF3-4FB8-A8A6-C0DF8195606E}"/>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a:t>
            </a:r>
          </a:p>
        </p:txBody>
      </p:sp>
      <p:sp>
        <p:nvSpPr>
          <p:cNvPr id="4" name="">
            <a:extLst xmlns:a="http://schemas.openxmlformats.org/drawingml/2006/main">
              <a:ext uri="{FF2B5EF4-FFF2-40B4-BE49-F238E27FC236}">
                <a16:creationId xmlns:a16="http://schemas.microsoft.com/office/drawing/2014/main" id="{B309B687-B9C1-48F2-9CC2-1CA9FEDC2FEF}"/>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24</a:t>
            </a:r>
          </a:p>
        </p:txBody>
      </p:sp>
      <p:sp>
        <p:nvSpPr>
          <p:cNvPr id="5" name="">
            <a:extLst xmlns:a="http://schemas.openxmlformats.org/drawingml/2006/main">
              <a:ext uri="{FF2B5EF4-FFF2-40B4-BE49-F238E27FC236}">
                <a16:creationId xmlns:a16="http://schemas.microsoft.com/office/drawing/2014/main" id="{D7FD136B-F6C4-4048-8858-F1DB8C4CBC11}"/>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4A21DEB6-0BC0-459D-87A7-58EB9F4312EC}"/>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11 kali</a:t>
            </a:r>
          </a:p>
        </p:txBody>
      </p:sp>
      <p:pic>
        <p:nvPicPr>
          <p:cNvPr id="7" name="">
            <a:extLst xmlns:a="http://schemas.openxmlformats.org/drawingml/2006/main">
              <a:ext uri="{FF2B5EF4-FFF2-40B4-BE49-F238E27FC236}">
                <a16:creationId xmlns:a16="http://schemas.microsoft.com/office/drawing/2014/main" id="{DEEA3CC4-5A5A-4B49-9EBF-134328B36657}"/>
              </a:ext>
            </a:extLst>
          </p:cNvPr>
          <p:cNvPicPr>
            <a:picLocks xmlns:a="http://schemas.openxmlformats.org/drawingml/2006/main" noChangeAspect="1"/>
          </p:cNvPicPr>
          <p:nvPr/>
        </p:nvPicPr>
        <p:blipFill>
          <a:blip xmlns:r="http://schemas.openxmlformats.org/officeDocument/2006/relationships" xmlns:a="http://schemas.openxmlformats.org/drawingml/2006/main" r:embed="Rdd70b0dc8d6f470e"/>
          <a:stretch xmlns:a="http://schemas.openxmlformats.org/drawingml/2006/main"/>
        </p:blipFill>
        <p:spPr>
          <a:xfrm xmlns:a="http://schemas.openxmlformats.org/drawingml/2006/main">
            <a:off x="5089752" y="2619375"/>
            <a:ext cx="2012496"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77DB8EB-7C67-49CE-9CD1-E55F40023C67}"/>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26AF6EAB-CAA8-4D9B-BC92-C4E5367581FE}"/>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keampunan Allah. Selepas itu, bacaan ta’ibuna ilallah sebanyak 3 kali menurut artikel.</a:t>
            </a:r>
          </a:p>
        </p:txBody>
      </p:sp>
      <p:sp>
        <p:nvSpPr>
          <p:cNvPr id="10" name="">
            <a:extLst xmlns:a="http://schemas.openxmlformats.org/drawingml/2006/main">
              <a:ext uri="{FF2B5EF4-FFF2-40B4-BE49-F238E27FC236}">
                <a16:creationId xmlns:a16="http://schemas.microsoft.com/office/drawing/2014/main" id="{5D5DDFB3-1E94-4AAD-AE2E-54180D421B9D}"/>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Asas amalan istighfar: Sahih al-Bukhari 6307. Bilangan 11 kali dan tambahan 3 kali mengikut artikel.</a:t>
            </a:r>
          </a:p>
        </p:txBody>
      </p:sp>
    </p:spTree>
    <p:extLst>
      <p:ext uri="{BB962C8B-B14F-4D97-AF65-F5344CB8AC3E}">
        <p14:creationId xmlns:p14="http://schemas.microsoft.com/office/powerpoint/2010/main" val="1446496613"/>
      </p:ext>
    </p:extLst>
  </p:cSld>
</p:sld>
</file>

<file path=ppt/slides/slide2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6BE231-D731-4AC6-9D7E-AE12CAD8F19D}"/>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ZIKIR 17 DARIPADA 17</a:t>
            </a:r>
          </a:p>
        </p:txBody>
      </p:sp>
      <p:sp>
        <p:nvSpPr>
          <p:cNvPr id="2" name="">
            <a:extLst xmlns:a="http://schemas.openxmlformats.org/drawingml/2006/main">
              <a:ext uri="{FF2B5EF4-FFF2-40B4-BE49-F238E27FC236}">
                <a16:creationId xmlns:a16="http://schemas.microsoft.com/office/drawing/2014/main" id="{5AABA3AC-F1F4-45F7-8459-A58CA75C62AE}"/>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Doa husnul khatimah</a:t>
            </a:r>
          </a:p>
        </p:txBody>
      </p:sp>
      <p:sp>
        <p:nvSpPr>
          <p:cNvPr id="3" name="">
            <a:extLst xmlns:a="http://schemas.openxmlformats.org/drawingml/2006/main">
              <a:ext uri="{FF2B5EF4-FFF2-40B4-BE49-F238E27FC236}">
                <a16:creationId xmlns:a16="http://schemas.microsoft.com/office/drawing/2014/main" id="{90872DEC-AA8C-44BC-ADA7-6831BB46EC86}"/>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104–105</a:t>
            </a:r>
          </a:p>
        </p:txBody>
      </p:sp>
      <p:sp>
        <p:nvSpPr>
          <p:cNvPr id="4" name="">
            <a:extLst xmlns:a="http://schemas.openxmlformats.org/drawingml/2006/main">
              <a:ext uri="{FF2B5EF4-FFF2-40B4-BE49-F238E27FC236}">
                <a16:creationId xmlns:a16="http://schemas.microsoft.com/office/drawing/2014/main" id="{60106C23-1D66-4D53-8D41-28E94B2728C2}"/>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25</a:t>
            </a:r>
          </a:p>
        </p:txBody>
      </p:sp>
      <p:sp>
        <p:nvSpPr>
          <p:cNvPr id="5" name="">
            <a:extLst xmlns:a="http://schemas.openxmlformats.org/drawingml/2006/main">
              <a:ext uri="{FF2B5EF4-FFF2-40B4-BE49-F238E27FC236}">
                <a16:creationId xmlns:a16="http://schemas.microsoft.com/office/drawing/2014/main" id="{A1B4DD88-ED58-451E-A791-3F422C94C413}"/>
              </a:ext>
            </a:extLst>
          </p:cNvPr>
          <p:cNvSpPr>
            <a:spLocks xmlns:a="http://schemas.openxmlformats.org/drawingml/2006/main" noGrp="1"/>
          </p:cNvSpPr>
          <p:nvPr/>
        </p:nvSpPr>
        <p:spPr>
          <a:xfrm xmlns:a="http://schemas.openxmlformats.org/drawingml/2006/main">
            <a:off x="647700" y="20002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6665F"/>
                </a:solidFill>
                <a:latin typeface="DejaVu Sans"/>
                <a:ea typeface="DejaVu Sans"/>
                <a:cs typeface="DejaVu Sans"/>
              </a:defRPr>
            </a:defPPr>
            <a:lvl1pPr>
              <a:defRPr sz="1125" b="0">
                <a:solidFill>
                  <a:srgbClr val="56665F"/>
                </a:solidFill>
                <a:latin typeface="DejaVu Sans"/>
                <a:ea typeface="DejaVu Sans"/>
                <a:cs typeface="DejaVu Sans"/>
              </a:defRPr>
            </a:lvl1pPr>
            <a:lvl2pPr>
              <a:defRPr sz="1125" b="0">
                <a:solidFill>
                  <a:srgbClr val="56665F"/>
                </a:solidFill>
                <a:latin typeface="DejaVu Sans"/>
                <a:ea typeface="DejaVu Sans"/>
                <a:cs typeface="DejaVu Sans"/>
              </a:defRPr>
            </a:lvl2pPr>
            <a:lvl3pPr>
              <a:defRPr sz="1125" b="0">
                <a:solidFill>
                  <a:srgbClr val="56665F"/>
                </a:solidFill>
                <a:latin typeface="DejaVu Sans"/>
                <a:ea typeface="DejaVu Sans"/>
                <a:cs typeface="DejaVu Sans"/>
              </a:defRPr>
            </a:lvl3pPr>
            <a:lvl4pPr>
              <a:defRPr sz="1125" b="0">
                <a:solidFill>
                  <a:srgbClr val="56665F"/>
                </a:solidFill>
                <a:latin typeface="DejaVu Sans"/>
                <a:ea typeface="DejaVu Sans"/>
                <a:cs typeface="DejaVu Sans"/>
              </a:defRPr>
            </a:lvl4pPr>
            <a:lvl5pPr>
              <a:defRPr sz="1125" b="0">
                <a:solidFill>
                  <a:srgbClr val="56665F"/>
                </a:solidFill>
                <a:latin typeface="DejaVu Sans"/>
                <a:ea typeface="DejaVu Sans"/>
                <a:cs typeface="DejaVu Sans"/>
              </a:defRPr>
            </a:lvl5pPr>
            <a:lvl6pPr>
              <a:defRPr sz="1125" b="0">
                <a:solidFill>
                  <a:srgbClr val="56665F"/>
                </a:solidFill>
                <a:latin typeface="DejaVu Sans"/>
                <a:ea typeface="DejaVu Sans"/>
                <a:cs typeface="DejaVu Sans"/>
              </a:defRPr>
            </a:lvl6pPr>
            <a:lvl7pPr>
              <a:defRPr sz="1125" b="0">
                <a:solidFill>
                  <a:srgbClr val="56665F"/>
                </a:solidFill>
                <a:latin typeface="DejaVu Sans"/>
                <a:ea typeface="DejaVu Sans"/>
                <a:cs typeface="DejaVu Sans"/>
              </a:defRPr>
            </a:lvl7pPr>
            <a:lvl8pPr>
              <a:defRPr sz="1125" b="0">
                <a:solidFill>
                  <a:srgbClr val="56665F"/>
                </a:solidFill>
                <a:latin typeface="DejaVu Sans"/>
                <a:ea typeface="DejaVu Sans"/>
                <a:cs typeface="DejaVu Sans"/>
              </a:defRPr>
            </a:lvl8pPr>
            <a:lvl9pPr>
              <a:defRPr sz="1125" b="0">
                <a:solidFill>
                  <a:srgbClr val="56665F"/>
                </a:solidFill>
                <a:latin typeface="DejaVu Sans"/>
                <a:ea typeface="DejaVu Sans"/>
                <a:cs typeface="DejaVu Sans"/>
              </a:defRPr>
            </a:lvl9pPr>
          </a:lstStyle>
          <a:p xmlns:a="http://schemas.openxmlformats.org/drawingml/2006/main">
            <a:pPr>
              <a:defRPr sz="1125" b="0">
                <a:solidFill>
                  <a:srgbClr val="56665F"/>
                </a:solidFill>
                <a:latin typeface="DejaVu Sans"/>
                <a:ea typeface="DejaVu Sans"/>
                <a:cs typeface="DejaVu Sans"/>
              </a:defRPr>
            </a:pPr>
            <a:r>
              <a:rPr sz="1125" b="0">
                <a:solidFill>
                  <a:srgbClr val="56665F"/>
                </a:solidFill>
                <a:latin typeface="DejaVu Sans"/>
                <a:ea typeface="DejaVu Sans"/>
                <a:cs typeface="DejaVu Sans"/>
              </a:rPr>
              <a:t>ULANGAN DALAM ARTIKEL</a:t>
            </a:r>
          </a:p>
        </p:txBody>
      </p:sp>
      <p:sp>
        <p:nvSpPr>
          <p:cNvPr id="6" name="">
            <a:extLst xmlns:a="http://schemas.openxmlformats.org/drawingml/2006/main">
              <a:ext uri="{FF2B5EF4-FFF2-40B4-BE49-F238E27FC236}">
                <a16:creationId xmlns:a16="http://schemas.microsoft.com/office/drawing/2014/main" id="{170EB6DC-8AB3-43AA-BA6D-BDDC4698EF6B}"/>
              </a:ext>
            </a:extLst>
          </p:cNvPr>
          <p:cNvSpPr>
            <a:spLocks xmlns:a="http://schemas.openxmlformats.org/drawingml/2006/main" noGrp="1"/>
          </p:cNvSpPr>
          <p:nvPr/>
        </p:nvSpPr>
        <p:spPr>
          <a:xfrm xmlns:a="http://schemas.openxmlformats.org/drawingml/2006/main">
            <a:off x="9048750" y="195262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38B43"/>
                </a:solidFill>
                <a:latin typeface="DejaVu Sans"/>
                <a:ea typeface="DejaVu Sans"/>
                <a:cs typeface="DejaVu Sans"/>
              </a:defRPr>
            </a:defPPr>
            <a:lvl1pPr>
              <a:defRPr sz="2250" b="1">
                <a:solidFill>
                  <a:srgbClr val="B38B43"/>
                </a:solidFill>
                <a:latin typeface="DejaVu Sans"/>
                <a:ea typeface="DejaVu Sans"/>
                <a:cs typeface="DejaVu Sans"/>
              </a:defRPr>
            </a:lvl1pPr>
            <a:lvl2pPr>
              <a:defRPr sz="2250" b="1">
                <a:solidFill>
                  <a:srgbClr val="B38B43"/>
                </a:solidFill>
                <a:latin typeface="DejaVu Sans"/>
                <a:ea typeface="DejaVu Sans"/>
                <a:cs typeface="DejaVu Sans"/>
              </a:defRPr>
            </a:lvl2pPr>
            <a:lvl3pPr>
              <a:defRPr sz="2250" b="1">
                <a:solidFill>
                  <a:srgbClr val="B38B43"/>
                </a:solidFill>
                <a:latin typeface="DejaVu Sans"/>
                <a:ea typeface="DejaVu Sans"/>
                <a:cs typeface="DejaVu Sans"/>
              </a:defRPr>
            </a:lvl3pPr>
            <a:lvl4pPr>
              <a:defRPr sz="2250" b="1">
                <a:solidFill>
                  <a:srgbClr val="B38B43"/>
                </a:solidFill>
                <a:latin typeface="DejaVu Sans"/>
                <a:ea typeface="DejaVu Sans"/>
                <a:cs typeface="DejaVu Sans"/>
              </a:defRPr>
            </a:lvl4pPr>
            <a:lvl5pPr>
              <a:defRPr sz="2250" b="1">
                <a:solidFill>
                  <a:srgbClr val="B38B43"/>
                </a:solidFill>
                <a:latin typeface="DejaVu Sans"/>
                <a:ea typeface="DejaVu Sans"/>
                <a:cs typeface="DejaVu Sans"/>
              </a:defRPr>
            </a:lvl5pPr>
            <a:lvl6pPr>
              <a:defRPr sz="2250" b="1">
                <a:solidFill>
                  <a:srgbClr val="B38B43"/>
                </a:solidFill>
                <a:latin typeface="DejaVu Sans"/>
                <a:ea typeface="DejaVu Sans"/>
                <a:cs typeface="DejaVu Sans"/>
              </a:defRPr>
            </a:lvl6pPr>
            <a:lvl7pPr>
              <a:defRPr sz="2250" b="1">
                <a:solidFill>
                  <a:srgbClr val="B38B43"/>
                </a:solidFill>
                <a:latin typeface="DejaVu Sans"/>
                <a:ea typeface="DejaVu Sans"/>
                <a:cs typeface="DejaVu Sans"/>
              </a:defRPr>
            </a:lvl7pPr>
            <a:lvl8pPr>
              <a:defRPr sz="2250" b="1">
                <a:solidFill>
                  <a:srgbClr val="B38B43"/>
                </a:solidFill>
                <a:latin typeface="DejaVu Sans"/>
                <a:ea typeface="DejaVu Sans"/>
                <a:cs typeface="DejaVu Sans"/>
              </a:defRPr>
            </a:lvl8pPr>
            <a:lvl9pPr>
              <a:defRPr sz="2250" b="1">
                <a:solidFill>
                  <a:srgbClr val="B38B43"/>
                </a:solidFill>
                <a:latin typeface="DejaVu Sans"/>
                <a:ea typeface="DejaVu Sans"/>
                <a:cs typeface="DejaVu Sans"/>
              </a:defRPr>
            </a:lvl9pPr>
          </a:lstStyle>
          <a:p xmlns:a="http://schemas.openxmlformats.org/drawingml/2006/main">
            <a:pPr>
              <a:defRPr sz="2250" b="1">
                <a:solidFill>
                  <a:srgbClr val="B38B43"/>
                </a:solidFill>
                <a:latin typeface="DejaVu Sans"/>
                <a:ea typeface="DejaVu Sans"/>
                <a:cs typeface="DejaVu Sans"/>
              </a:defRPr>
            </a:pPr>
            <a:r>
              <a:rPr sz="2250" b="1">
                <a:solidFill>
                  <a:srgbClr val="B38B43"/>
                </a:solidFill>
                <a:latin typeface="DejaVu Sans"/>
                <a:ea typeface="DejaVu Sans"/>
                <a:cs typeface="DejaVu Sans"/>
              </a:rPr>
              <a:t>11 kali*</a:t>
            </a:r>
          </a:p>
        </p:txBody>
      </p:sp>
      <p:pic>
        <p:nvPicPr>
          <p:cNvPr id="7" name="">
            <a:extLst xmlns:a="http://schemas.openxmlformats.org/drawingml/2006/main">
              <a:ext uri="{FF2B5EF4-FFF2-40B4-BE49-F238E27FC236}">
                <a16:creationId xmlns:a16="http://schemas.microsoft.com/office/drawing/2014/main" id="{C0E7EB79-CE0B-4810-BD92-ED4499B8B59B}"/>
              </a:ext>
            </a:extLst>
          </p:cNvPr>
          <p:cNvPicPr>
            <a:picLocks xmlns:a="http://schemas.openxmlformats.org/drawingml/2006/main" noChangeAspect="1"/>
          </p:cNvPicPr>
          <p:nvPr/>
        </p:nvPicPr>
        <p:blipFill>
          <a:blip xmlns:r="http://schemas.openxmlformats.org/officeDocument/2006/relationships" xmlns:a="http://schemas.openxmlformats.org/drawingml/2006/main" r:embed="Rc971f5319d694555"/>
          <a:stretch xmlns:a="http://schemas.openxmlformats.org/drawingml/2006/main"/>
        </p:blipFill>
        <p:spPr>
          <a:xfrm xmlns:a="http://schemas.openxmlformats.org/drawingml/2006/main">
            <a:off x="2841521" y="2619375"/>
            <a:ext cx="6508959"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0CDA0FF-5914-4013-80E5-A966477538D7}"/>
              </a:ext>
            </a:extLst>
          </p:cNvPr>
          <p:cNvSpPr>
            <a:spLocks xmlns:a="http://schemas.openxmlformats.org/drawingml/2006/main" noGrp="1"/>
          </p:cNvSpPr>
          <p:nvPr/>
        </p:nvSpPr>
        <p:spPr>
          <a:xfrm xmlns:a="http://schemas.openxmlformats.org/drawingml/2006/main">
            <a:off x="647700" y="38004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38B43"/>
                </a:solidFill>
                <a:latin typeface="DejaVu Sans"/>
                <a:ea typeface="DejaVu Sans"/>
                <a:cs typeface="DejaVu Sans"/>
              </a:defRPr>
            </a:defPPr>
            <a:lvl1pPr>
              <a:defRPr sz="1200" b="1">
                <a:solidFill>
                  <a:srgbClr val="B38B43"/>
                </a:solidFill>
                <a:latin typeface="DejaVu Sans"/>
                <a:ea typeface="DejaVu Sans"/>
                <a:cs typeface="DejaVu Sans"/>
              </a:defRPr>
            </a:lvl1pPr>
            <a:lvl2pPr>
              <a:defRPr sz="1200" b="1">
                <a:solidFill>
                  <a:srgbClr val="B38B43"/>
                </a:solidFill>
                <a:latin typeface="DejaVu Sans"/>
                <a:ea typeface="DejaVu Sans"/>
                <a:cs typeface="DejaVu Sans"/>
              </a:defRPr>
            </a:lvl2pPr>
            <a:lvl3pPr>
              <a:defRPr sz="1200" b="1">
                <a:solidFill>
                  <a:srgbClr val="B38B43"/>
                </a:solidFill>
                <a:latin typeface="DejaVu Sans"/>
                <a:ea typeface="DejaVu Sans"/>
                <a:cs typeface="DejaVu Sans"/>
              </a:defRPr>
            </a:lvl3pPr>
            <a:lvl4pPr>
              <a:defRPr sz="1200" b="1">
                <a:solidFill>
                  <a:srgbClr val="B38B43"/>
                </a:solidFill>
                <a:latin typeface="DejaVu Sans"/>
                <a:ea typeface="DejaVu Sans"/>
                <a:cs typeface="DejaVu Sans"/>
              </a:defRPr>
            </a:lvl4pPr>
            <a:lvl5pPr>
              <a:defRPr sz="1200" b="1">
                <a:solidFill>
                  <a:srgbClr val="B38B43"/>
                </a:solidFill>
                <a:latin typeface="DejaVu Sans"/>
                <a:ea typeface="DejaVu Sans"/>
                <a:cs typeface="DejaVu Sans"/>
              </a:defRPr>
            </a:lvl5pPr>
            <a:lvl6pPr>
              <a:defRPr sz="1200" b="1">
                <a:solidFill>
                  <a:srgbClr val="B38B43"/>
                </a:solidFill>
                <a:latin typeface="DejaVu Sans"/>
                <a:ea typeface="DejaVu Sans"/>
                <a:cs typeface="DejaVu Sans"/>
              </a:defRPr>
            </a:lvl6pPr>
            <a:lvl7pPr>
              <a:defRPr sz="1200" b="1">
                <a:solidFill>
                  <a:srgbClr val="B38B43"/>
                </a:solidFill>
                <a:latin typeface="DejaVu Sans"/>
                <a:ea typeface="DejaVu Sans"/>
                <a:cs typeface="DejaVu Sans"/>
              </a:defRPr>
            </a:lvl7pPr>
            <a:lvl8pPr>
              <a:defRPr sz="1200" b="1">
                <a:solidFill>
                  <a:srgbClr val="B38B43"/>
                </a:solidFill>
                <a:latin typeface="DejaVu Sans"/>
                <a:ea typeface="DejaVu Sans"/>
                <a:cs typeface="DejaVu Sans"/>
              </a:defRPr>
            </a:lvl8pPr>
            <a:lvl9pPr>
              <a:defRPr sz="1200" b="1">
                <a:solidFill>
                  <a:srgbClr val="B38B43"/>
                </a:solidFill>
                <a:latin typeface="DejaVu Sans"/>
                <a:ea typeface="DejaVu Sans"/>
                <a:cs typeface="DejaVu Sans"/>
              </a:defRPr>
            </a:lvl9pPr>
          </a:lstStyle>
          <a:p xmlns:a="http://schemas.openxmlformats.org/drawingml/2006/main">
            <a:pPr>
              <a:defRPr sz="1200" b="1">
                <a:solidFill>
                  <a:srgbClr val="B38B43"/>
                </a:solidFill>
                <a:latin typeface="DejaVu Sans"/>
                <a:ea typeface="DejaVu Sans"/>
                <a:cs typeface="DejaVu Sans"/>
              </a:defRPr>
            </a:pPr>
            <a:r>
              <a:rPr sz="1200" b="1">
                <a:solidFill>
                  <a:srgbClr val="B38B43"/>
                </a:solidFill>
                <a:latin typeface="DejaVu Sans"/>
                <a:ea typeface="DejaVu Sans"/>
                <a:cs typeface="DejaVu Sans"/>
              </a:rPr>
              <a:t>HURAIAN MAKSUD (PARAFRASA)</a:t>
            </a:r>
          </a:p>
        </p:txBody>
      </p:sp>
      <p:sp>
        <p:nvSpPr>
          <p:cNvPr id="9" name="">
            <a:extLst xmlns:a="http://schemas.openxmlformats.org/drawingml/2006/main">
              <a:ext uri="{FF2B5EF4-FFF2-40B4-BE49-F238E27FC236}">
                <a16:creationId xmlns:a16="http://schemas.microsoft.com/office/drawing/2014/main" id="{18E35E5D-D900-4F52-9B32-F6414C5CDC22}"/>
              </a:ext>
            </a:extLst>
          </p:cNvPr>
          <p:cNvSpPr>
            <a:spLocks xmlns:a="http://schemas.openxmlformats.org/drawingml/2006/main" noGrp="1"/>
          </p:cNvSpPr>
          <p:nvPr/>
        </p:nvSpPr>
        <p:spPr>
          <a:xfrm xmlns:a="http://schemas.openxmlformats.org/drawingml/2006/main">
            <a:off x="647700" y="419100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F37"/>
                </a:solidFill>
                <a:latin typeface="DejaVu Sans"/>
                <a:ea typeface="DejaVu Sans"/>
                <a:cs typeface="DejaVu Sans"/>
              </a:defRPr>
            </a:defPPr>
            <a:lvl1pPr>
              <a:defRPr sz="2100" b="0">
                <a:solidFill>
                  <a:srgbClr val="173F37"/>
                </a:solidFill>
                <a:latin typeface="DejaVu Sans"/>
                <a:ea typeface="DejaVu Sans"/>
                <a:cs typeface="DejaVu Sans"/>
              </a:defRPr>
            </a:lvl1pPr>
            <a:lvl2pPr>
              <a:defRPr sz="2100" b="0">
                <a:solidFill>
                  <a:srgbClr val="173F37"/>
                </a:solidFill>
                <a:latin typeface="DejaVu Sans"/>
                <a:ea typeface="DejaVu Sans"/>
                <a:cs typeface="DejaVu Sans"/>
              </a:defRPr>
            </a:lvl2pPr>
            <a:lvl3pPr>
              <a:defRPr sz="2100" b="0">
                <a:solidFill>
                  <a:srgbClr val="173F37"/>
                </a:solidFill>
                <a:latin typeface="DejaVu Sans"/>
                <a:ea typeface="DejaVu Sans"/>
                <a:cs typeface="DejaVu Sans"/>
              </a:defRPr>
            </a:lvl3pPr>
            <a:lvl4pPr>
              <a:defRPr sz="2100" b="0">
                <a:solidFill>
                  <a:srgbClr val="173F37"/>
                </a:solidFill>
                <a:latin typeface="DejaVu Sans"/>
                <a:ea typeface="DejaVu Sans"/>
                <a:cs typeface="DejaVu Sans"/>
              </a:defRPr>
            </a:lvl4pPr>
            <a:lvl5pPr>
              <a:defRPr sz="2100" b="0">
                <a:solidFill>
                  <a:srgbClr val="173F37"/>
                </a:solidFill>
                <a:latin typeface="DejaVu Sans"/>
                <a:ea typeface="DejaVu Sans"/>
                <a:cs typeface="DejaVu Sans"/>
              </a:defRPr>
            </a:lvl5pPr>
            <a:lvl6pPr>
              <a:defRPr sz="2100" b="0">
                <a:solidFill>
                  <a:srgbClr val="173F37"/>
                </a:solidFill>
                <a:latin typeface="DejaVu Sans"/>
                <a:ea typeface="DejaVu Sans"/>
                <a:cs typeface="DejaVu Sans"/>
              </a:defRPr>
            </a:lvl6pPr>
            <a:lvl7pPr>
              <a:defRPr sz="2100" b="0">
                <a:solidFill>
                  <a:srgbClr val="173F37"/>
                </a:solidFill>
                <a:latin typeface="DejaVu Sans"/>
                <a:ea typeface="DejaVu Sans"/>
                <a:cs typeface="DejaVu Sans"/>
              </a:defRPr>
            </a:lvl7pPr>
            <a:lvl8pPr>
              <a:defRPr sz="2100" b="0">
                <a:solidFill>
                  <a:srgbClr val="173F37"/>
                </a:solidFill>
                <a:latin typeface="DejaVu Sans"/>
                <a:ea typeface="DejaVu Sans"/>
                <a:cs typeface="DejaVu Sans"/>
              </a:defRPr>
            </a:lvl8pPr>
            <a:lvl9pPr>
              <a:defRPr sz="2100" b="0">
                <a:solidFill>
                  <a:srgbClr val="173F37"/>
                </a:solidFill>
                <a:latin typeface="DejaVu Sans"/>
                <a:ea typeface="DejaVu Sans"/>
                <a:cs typeface="DejaVu Sans"/>
              </a:defRPr>
            </a:lvl9pPr>
          </a:lstStyle>
          <a:p xmlns:a="http://schemas.openxmlformats.org/drawingml/2006/main">
            <a:pPr>
              <a:defRPr sz="2100" b="0">
                <a:solidFill>
                  <a:srgbClr val="173F37"/>
                </a:solidFill>
                <a:latin typeface="DejaVu Sans"/>
                <a:ea typeface="DejaVu Sans"/>
                <a:cs typeface="DejaVu Sans"/>
              </a:defRPr>
            </a:pPr>
            <a:r>
              <a:rPr sz="2100" b="0">
                <a:solidFill>
                  <a:srgbClr val="173F37"/>
                </a:solidFill>
                <a:latin typeface="DejaVu Sans"/>
                <a:ea typeface="DejaVu Sans"/>
                <a:cs typeface="DejaVu Sans"/>
              </a:rPr>
              <a:t>Memohon kepada Allah pengakhiran kehidupan yang baik.</a:t>
            </a:r>
          </a:p>
        </p:txBody>
      </p:sp>
      <p:sp>
        <p:nvSpPr>
          <p:cNvPr id="10" name="">
            <a:extLst xmlns:a="http://schemas.openxmlformats.org/drawingml/2006/main">
              <a:ext uri="{FF2B5EF4-FFF2-40B4-BE49-F238E27FC236}">
                <a16:creationId xmlns:a16="http://schemas.microsoft.com/office/drawing/2014/main" id="{96ABBD7B-1556-4B7D-8850-E01235423F65}"/>
              </a:ext>
            </a:extLst>
          </p:cNvPr>
          <p:cNvSpPr>
            <a:spLocks xmlns:a="http://schemas.openxmlformats.org/drawingml/2006/main" noGrp="1"/>
          </p:cNvSpPr>
          <p:nvPr/>
        </p:nvSpPr>
        <p:spPr>
          <a:xfrm xmlns:a="http://schemas.openxmlformats.org/drawingml/2006/main">
            <a:off x="647700" y="54292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56665F"/>
                </a:solidFill>
                <a:latin typeface="DejaVu Sans"/>
                <a:ea typeface="DejaVu Sans"/>
                <a:cs typeface="DejaVu Sans"/>
              </a:defRPr>
            </a:defPPr>
            <a:lvl1pPr>
              <a:defRPr sz="1500" b="0">
                <a:solidFill>
                  <a:srgbClr val="56665F"/>
                </a:solidFill>
                <a:latin typeface="DejaVu Sans"/>
                <a:ea typeface="DejaVu Sans"/>
                <a:cs typeface="DejaVu Sans"/>
              </a:defRPr>
            </a:lvl1pPr>
            <a:lvl2pPr>
              <a:defRPr sz="1500" b="0">
                <a:solidFill>
                  <a:srgbClr val="56665F"/>
                </a:solidFill>
                <a:latin typeface="DejaVu Sans"/>
                <a:ea typeface="DejaVu Sans"/>
                <a:cs typeface="DejaVu Sans"/>
              </a:defRPr>
            </a:lvl2pPr>
            <a:lvl3pPr>
              <a:defRPr sz="1500" b="0">
                <a:solidFill>
                  <a:srgbClr val="56665F"/>
                </a:solidFill>
                <a:latin typeface="DejaVu Sans"/>
                <a:ea typeface="DejaVu Sans"/>
                <a:cs typeface="DejaVu Sans"/>
              </a:defRPr>
            </a:lvl3pPr>
            <a:lvl4pPr>
              <a:defRPr sz="1500" b="0">
                <a:solidFill>
                  <a:srgbClr val="56665F"/>
                </a:solidFill>
                <a:latin typeface="DejaVu Sans"/>
                <a:ea typeface="DejaVu Sans"/>
                <a:cs typeface="DejaVu Sans"/>
              </a:defRPr>
            </a:lvl4pPr>
            <a:lvl5pPr>
              <a:defRPr sz="1500" b="0">
                <a:solidFill>
                  <a:srgbClr val="56665F"/>
                </a:solidFill>
                <a:latin typeface="DejaVu Sans"/>
                <a:ea typeface="DejaVu Sans"/>
                <a:cs typeface="DejaVu Sans"/>
              </a:defRPr>
            </a:lvl5pPr>
            <a:lvl6pPr>
              <a:defRPr sz="1500" b="0">
                <a:solidFill>
                  <a:srgbClr val="56665F"/>
                </a:solidFill>
                <a:latin typeface="DejaVu Sans"/>
                <a:ea typeface="DejaVu Sans"/>
                <a:cs typeface="DejaVu Sans"/>
              </a:defRPr>
            </a:lvl6pPr>
            <a:lvl7pPr>
              <a:defRPr sz="1500" b="0">
                <a:solidFill>
                  <a:srgbClr val="56665F"/>
                </a:solidFill>
                <a:latin typeface="DejaVu Sans"/>
                <a:ea typeface="DejaVu Sans"/>
                <a:cs typeface="DejaVu Sans"/>
              </a:defRPr>
            </a:lvl7pPr>
            <a:lvl8pPr>
              <a:defRPr sz="1500" b="0">
                <a:solidFill>
                  <a:srgbClr val="56665F"/>
                </a:solidFill>
                <a:latin typeface="DejaVu Sans"/>
                <a:ea typeface="DejaVu Sans"/>
                <a:cs typeface="DejaVu Sans"/>
              </a:defRPr>
            </a:lvl8pPr>
            <a:lvl9pPr>
              <a:defRPr sz="1500" b="0">
                <a:solidFill>
                  <a:srgbClr val="56665F"/>
                </a:solidFill>
                <a:latin typeface="DejaVu Sans"/>
                <a:ea typeface="DejaVu Sans"/>
                <a:cs typeface="DejaVu Sans"/>
              </a:defRPr>
            </a:lvl9pPr>
          </a:lstStyle>
          <a:p xmlns:a="http://schemas.openxmlformats.org/drawingml/2006/main">
            <a:pPr>
              <a:defRPr sz="1500" b="0">
                <a:solidFill>
                  <a:srgbClr val="56665F"/>
                </a:solidFill>
                <a:latin typeface="DejaVu Sans"/>
                <a:ea typeface="DejaVu Sans"/>
                <a:cs typeface="DejaVu Sans"/>
              </a:defRPr>
            </a:pPr>
            <a:r>
              <a:rPr sz="1500" b="0">
                <a:solidFill>
                  <a:srgbClr val="56665F"/>
                </a:solidFill>
                <a:latin typeface="DejaVu Sans"/>
                <a:ea typeface="DejaVu Sans"/>
                <a:cs typeface="DejaVu Sans"/>
              </a:rPr>
              <a:t>Artikel menyifatkan doa ini sebagai ijtihad penyusun. *Bilangan 11 kali dinyatakan dalam perenggan khusus.</a:t>
            </a:r>
          </a:p>
        </p:txBody>
      </p:sp>
    </p:spTree>
    <p:extLst>
      <p:ext uri="{BB962C8B-B14F-4D97-AF65-F5344CB8AC3E}">
        <p14:creationId xmlns:p14="http://schemas.microsoft.com/office/powerpoint/2010/main" val="1766464875"/>
      </p:ext>
    </p:extLst>
  </p:cSld>
</p:sld>
</file>

<file path=ppt/slides/slide2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EADB74-F45D-469F-A378-FFE0A8D045B9}"/>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SINTESIS KANDUNGAN</a:t>
            </a:r>
          </a:p>
        </p:txBody>
      </p:sp>
      <p:sp>
        <p:nvSpPr>
          <p:cNvPr id="2" name="">
            <a:extLst xmlns:a="http://schemas.openxmlformats.org/drawingml/2006/main">
              <a:ext uri="{FF2B5EF4-FFF2-40B4-BE49-F238E27FC236}">
                <a16:creationId xmlns:a16="http://schemas.microsoft.com/office/drawing/2014/main" id="{2ACB09D7-6992-4C0F-BDAC-E49F374E12F8}"/>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Ringkasan tema 17 bacaan</a:t>
            </a:r>
          </a:p>
        </p:txBody>
      </p:sp>
      <p:sp>
        <p:nvSpPr>
          <p:cNvPr id="3" name="">
            <a:extLst xmlns:a="http://schemas.openxmlformats.org/drawingml/2006/main">
              <a:ext uri="{FF2B5EF4-FFF2-40B4-BE49-F238E27FC236}">
                <a16:creationId xmlns:a16="http://schemas.microsoft.com/office/drawing/2014/main" id="{F1B2AD83-8260-4E36-A8E4-A878F6F3A435}"/>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103–105</a:t>
            </a:r>
          </a:p>
        </p:txBody>
      </p:sp>
      <p:sp>
        <p:nvSpPr>
          <p:cNvPr id="4" name="">
            <a:extLst xmlns:a="http://schemas.openxmlformats.org/drawingml/2006/main">
              <a:ext uri="{FF2B5EF4-FFF2-40B4-BE49-F238E27FC236}">
                <a16:creationId xmlns:a16="http://schemas.microsoft.com/office/drawing/2014/main" id="{2A929981-FAFD-47EE-837A-0D50410D52AF}"/>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26</a:t>
            </a:r>
          </a:p>
        </p:txBody>
      </p:sp>
      <p:sp>
        <p:nvSpPr>
          <p:cNvPr id="5" name="">
            <a:extLst xmlns:a="http://schemas.openxmlformats.org/drawingml/2006/main">
              <a:ext uri="{FF2B5EF4-FFF2-40B4-BE49-F238E27FC236}">
                <a16:creationId xmlns:a16="http://schemas.microsoft.com/office/drawing/2014/main" id="{C3591527-2043-41F0-B971-27BF5FD4B73E}"/>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B8770CA7-3941-4FF3-B4C9-B8CF36668CD6}"/>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Perlindungan dan tawakal: ta‘awuz, basmalah, hauqalah serta hasbalah.</a:t>
            </a:r>
          </a:p>
        </p:txBody>
      </p:sp>
      <p:sp>
        <p:nvSpPr>
          <p:cNvPr id="7" name="">
            <a:extLst xmlns:a="http://schemas.openxmlformats.org/drawingml/2006/main">
              <a:ext uri="{FF2B5EF4-FFF2-40B4-BE49-F238E27FC236}">
                <a16:creationId xmlns:a16="http://schemas.microsoft.com/office/drawing/2014/main" id="{67DB1290-975F-42D8-B2F5-AF2BD3BFACC2}"/>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8B1E368-0DA0-4E27-B426-2AB4A5B07A53}"/>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Tauhid dan pengagungan: tasbih, tahmid, tahlil dan takbir.</a:t>
            </a:r>
          </a:p>
        </p:txBody>
      </p:sp>
      <p:sp>
        <p:nvSpPr>
          <p:cNvPr id="9" name="">
            <a:extLst xmlns:a="http://schemas.openxmlformats.org/drawingml/2006/main">
              <a:ext uri="{FF2B5EF4-FFF2-40B4-BE49-F238E27FC236}">
                <a16:creationId xmlns:a16="http://schemas.microsoft.com/office/drawing/2014/main" id="{C9A17129-6AB8-4FD6-84B4-AAF375444E4D}"/>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27ED194E-79FC-4CE1-BBA6-A069E99C0EEB}"/>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Permohonan dan taubat: Ya Latif, selawat, istighfar serta doa husnul khatimah.</a:t>
            </a:r>
          </a:p>
        </p:txBody>
      </p:sp>
    </p:spTree>
    <p:extLst>
      <p:ext uri="{BB962C8B-B14F-4D97-AF65-F5344CB8AC3E}">
        <p14:creationId xmlns:p14="http://schemas.microsoft.com/office/powerpoint/2010/main" val="962508043"/>
      </p:ext>
    </p:extLst>
  </p:cSld>
</p:sld>
</file>

<file path=ppt/slides/slide2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D199E4-8D13-4D1A-ABDB-237621F80B5A}"/>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SANDARAN UMUM</a:t>
            </a:r>
          </a:p>
        </p:txBody>
      </p:sp>
      <p:sp>
        <p:nvSpPr>
          <p:cNvPr id="2" name="">
            <a:extLst xmlns:a="http://schemas.openxmlformats.org/drawingml/2006/main">
              <a:ext uri="{FF2B5EF4-FFF2-40B4-BE49-F238E27FC236}">
                <a16:creationId xmlns:a16="http://schemas.microsoft.com/office/drawing/2014/main" id="{C2786A01-FC4B-4D90-8796-8A155DB54B0F}"/>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Asas al-Quran yang dibincangkan</a:t>
            </a:r>
          </a:p>
        </p:txBody>
      </p:sp>
      <p:sp>
        <p:nvSpPr>
          <p:cNvPr id="3" name="">
            <a:extLst xmlns:a="http://schemas.openxmlformats.org/drawingml/2006/main">
              <a:ext uri="{FF2B5EF4-FFF2-40B4-BE49-F238E27FC236}">
                <a16:creationId xmlns:a16="http://schemas.microsoft.com/office/drawing/2014/main" id="{200B11CE-0F64-4695-AF6A-B8ADD7F1E2C0}"/>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105</a:t>
            </a:r>
          </a:p>
        </p:txBody>
      </p:sp>
      <p:sp>
        <p:nvSpPr>
          <p:cNvPr id="4" name="">
            <a:extLst xmlns:a="http://schemas.openxmlformats.org/drawingml/2006/main">
              <a:ext uri="{FF2B5EF4-FFF2-40B4-BE49-F238E27FC236}">
                <a16:creationId xmlns:a16="http://schemas.microsoft.com/office/drawing/2014/main" id="{99C5638E-BC23-45E6-94AF-C6109B5B9001}"/>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27</a:t>
            </a:r>
          </a:p>
        </p:txBody>
      </p:sp>
      <p:sp>
        <p:nvSpPr>
          <p:cNvPr id="5" name="">
            <a:extLst xmlns:a="http://schemas.openxmlformats.org/drawingml/2006/main">
              <a:ext uri="{FF2B5EF4-FFF2-40B4-BE49-F238E27FC236}">
                <a16:creationId xmlns:a16="http://schemas.microsoft.com/office/drawing/2014/main" id="{F2AACFD7-A304-4B8D-92DC-51F338DF88C8}"/>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9BA4E835-3EB4-43D8-8691-939492C37264}"/>
              </a:ext>
            </a:extLst>
          </p:cNvPr>
          <p:cNvSpPr>
            <a:spLocks xmlns:a="http://schemas.openxmlformats.org/drawingml/2006/main" noGrp="1"/>
          </p:cNvSpPr>
          <p:nvPr/>
        </p:nvSpPr>
        <p:spPr>
          <a:xfrm xmlns:a="http://schemas.openxmlformats.org/drawingml/2006/main">
            <a:off x="1447800" y="220027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Al-Ra‘d 13:28: hubungan mengingati Allah dengan ketenteraman hati.</a:t>
            </a:r>
          </a:p>
        </p:txBody>
      </p:sp>
      <p:sp>
        <p:nvSpPr>
          <p:cNvPr id="7" name="">
            <a:extLst xmlns:a="http://schemas.openxmlformats.org/drawingml/2006/main">
              <a:ext uri="{FF2B5EF4-FFF2-40B4-BE49-F238E27FC236}">
                <a16:creationId xmlns:a16="http://schemas.microsoft.com/office/drawing/2014/main" id="{D6CA044F-A32C-41A0-B839-60269990C68F}"/>
              </a:ext>
            </a:extLst>
          </p:cNvPr>
          <p:cNvSpPr>
            <a:spLocks xmlns:a="http://schemas.openxmlformats.org/drawingml/2006/main" noGrp="1"/>
          </p:cNvSpPr>
          <p:nvPr/>
        </p:nvSpPr>
        <p:spPr>
          <a:xfrm xmlns:a="http://schemas.openxmlformats.org/drawingml/2006/main">
            <a:off x="647700" y="31718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ECD0901D-A2C7-4EC8-9F06-48AE36EDAE68}"/>
              </a:ext>
            </a:extLst>
          </p:cNvPr>
          <p:cNvSpPr>
            <a:spLocks xmlns:a="http://schemas.openxmlformats.org/drawingml/2006/main" noGrp="1"/>
          </p:cNvSpPr>
          <p:nvPr/>
        </p:nvSpPr>
        <p:spPr>
          <a:xfrm xmlns:a="http://schemas.openxmlformats.org/drawingml/2006/main">
            <a:off x="1447800" y="313372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Al-Ahzab 33:41–42: seruan memperbanyak zikir pada pagi dan petang.</a:t>
            </a:r>
          </a:p>
        </p:txBody>
      </p:sp>
      <p:sp>
        <p:nvSpPr>
          <p:cNvPr id="9" name="">
            <a:extLst xmlns:a="http://schemas.openxmlformats.org/drawingml/2006/main">
              <a:ext uri="{FF2B5EF4-FFF2-40B4-BE49-F238E27FC236}">
                <a16:creationId xmlns:a16="http://schemas.microsoft.com/office/drawing/2014/main" id="{4FDB958E-FBAF-45A0-963E-9E5EA85B9990}"/>
              </a:ext>
            </a:extLst>
          </p:cNvPr>
          <p:cNvSpPr>
            <a:spLocks xmlns:a="http://schemas.openxmlformats.org/drawingml/2006/main" noGrp="1"/>
          </p:cNvSpPr>
          <p:nvPr/>
        </p:nvSpPr>
        <p:spPr>
          <a:xfrm xmlns:a="http://schemas.openxmlformats.org/drawingml/2006/main">
            <a:off x="647700" y="41052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A2E93B12-BB17-401B-A985-00A1324BA5C6}"/>
              </a:ext>
            </a:extLst>
          </p:cNvPr>
          <p:cNvSpPr>
            <a:spLocks xmlns:a="http://schemas.openxmlformats.org/drawingml/2006/main" noGrp="1"/>
          </p:cNvSpPr>
          <p:nvPr/>
        </p:nvSpPr>
        <p:spPr>
          <a:xfrm xmlns:a="http://schemas.openxmlformats.org/drawingml/2006/main">
            <a:off x="1447800" y="406717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Ali ‘Imran 3:191: mengingati Allah ketika berdiri, duduk dan berbaring.</a:t>
            </a:r>
          </a:p>
        </p:txBody>
      </p:sp>
      <p:sp>
        <p:nvSpPr>
          <p:cNvPr id="11" name="">
            <a:extLst xmlns:a="http://schemas.openxmlformats.org/drawingml/2006/main">
              <a:ext uri="{FF2B5EF4-FFF2-40B4-BE49-F238E27FC236}">
                <a16:creationId xmlns:a16="http://schemas.microsoft.com/office/drawing/2014/main" id="{D6D7E22C-BE42-4905-8F34-30E912BA9897}"/>
              </a:ext>
            </a:extLst>
          </p:cNvPr>
          <p:cNvSpPr>
            <a:spLocks xmlns:a="http://schemas.openxmlformats.org/drawingml/2006/main" noGrp="1"/>
          </p:cNvSpPr>
          <p:nvPr/>
        </p:nvSpPr>
        <p:spPr>
          <a:xfrm xmlns:a="http://schemas.openxmlformats.org/drawingml/2006/main">
            <a:off x="647700" y="50387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04</a:t>
            </a:r>
          </a:p>
        </p:txBody>
      </p:sp>
      <p:sp>
        <p:nvSpPr>
          <p:cNvPr id="12" name="">
            <a:extLst xmlns:a="http://schemas.openxmlformats.org/drawingml/2006/main">
              <a:ext uri="{FF2B5EF4-FFF2-40B4-BE49-F238E27FC236}">
                <a16:creationId xmlns:a16="http://schemas.microsoft.com/office/drawing/2014/main" id="{7BD3A456-87DD-4F27-AA10-B8B0FB4D0E6A}"/>
              </a:ext>
            </a:extLst>
          </p:cNvPr>
          <p:cNvSpPr>
            <a:spLocks xmlns:a="http://schemas.openxmlformats.org/drawingml/2006/main" noGrp="1"/>
          </p:cNvSpPr>
          <p:nvPr/>
        </p:nvSpPr>
        <p:spPr>
          <a:xfrm xmlns:a="http://schemas.openxmlformats.org/drawingml/2006/main">
            <a:off x="1447800" y="5000625"/>
            <a:ext cx="1000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Al-Shams 91:9–10: perbincangan penyucian jiwa.</a:t>
            </a:r>
          </a:p>
        </p:txBody>
      </p:sp>
    </p:spTree>
    <p:extLst>
      <p:ext uri="{BB962C8B-B14F-4D97-AF65-F5344CB8AC3E}">
        <p14:creationId xmlns:p14="http://schemas.microsoft.com/office/powerpoint/2010/main" val="930978766"/>
      </p:ext>
    </p:extLst>
  </p:cSld>
</p:sld>
</file>

<file path=ppt/slides/slide2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4D8B4D-B80C-483F-9F2E-341951E3AF76}"/>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SANDARAN UMUM</a:t>
            </a:r>
          </a:p>
        </p:txBody>
      </p:sp>
      <p:sp>
        <p:nvSpPr>
          <p:cNvPr id="2" name="">
            <a:extLst xmlns:a="http://schemas.openxmlformats.org/drawingml/2006/main">
              <a:ext uri="{FF2B5EF4-FFF2-40B4-BE49-F238E27FC236}">
                <a16:creationId xmlns:a16="http://schemas.microsoft.com/office/drawing/2014/main" id="{C5F7D996-08ED-4ED2-9EE0-2CA7FCA94397}"/>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Asas hadis yang dibincangkan</a:t>
            </a:r>
          </a:p>
        </p:txBody>
      </p:sp>
      <p:sp>
        <p:nvSpPr>
          <p:cNvPr id="3" name="">
            <a:extLst xmlns:a="http://schemas.openxmlformats.org/drawingml/2006/main">
              <a:ext uri="{FF2B5EF4-FFF2-40B4-BE49-F238E27FC236}">
                <a16:creationId xmlns:a16="http://schemas.microsoft.com/office/drawing/2014/main" id="{77D6CACC-26DA-4A8C-9D94-21FC3BE04E63}"/>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103–105</a:t>
            </a:r>
          </a:p>
        </p:txBody>
      </p:sp>
      <p:sp>
        <p:nvSpPr>
          <p:cNvPr id="4" name="">
            <a:extLst xmlns:a="http://schemas.openxmlformats.org/drawingml/2006/main">
              <a:ext uri="{FF2B5EF4-FFF2-40B4-BE49-F238E27FC236}">
                <a16:creationId xmlns:a16="http://schemas.microsoft.com/office/drawing/2014/main" id="{79FD02FD-BDB6-4BC7-9FDF-C2FD09F7C7BF}"/>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28</a:t>
            </a:r>
          </a:p>
        </p:txBody>
      </p:sp>
      <p:sp>
        <p:nvSpPr>
          <p:cNvPr id="5" name="">
            <a:extLst xmlns:a="http://schemas.openxmlformats.org/drawingml/2006/main">
              <a:ext uri="{FF2B5EF4-FFF2-40B4-BE49-F238E27FC236}">
                <a16:creationId xmlns:a16="http://schemas.microsoft.com/office/drawing/2014/main" id="{275783DD-7B32-4424-A922-642C14F13968}"/>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CC536C65-2E32-46F1-9381-40B7FFA9D6EA}"/>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Sahih al-Bukhari 6407 memuatkan perumpamaan orang yang mengingati Tuhannya dan yang tidak, seperti yang hidup dan yang mati.</a:t>
            </a:r>
          </a:p>
        </p:txBody>
      </p:sp>
      <p:sp>
        <p:nvSpPr>
          <p:cNvPr id="7" name="">
            <a:extLst xmlns:a="http://schemas.openxmlformats.org/drawingml/2006/main">
              <a:ext uri="{FF2B5EF4-FFF2-40B4-BE49-F238E27FC236}">
                <a16:creationId xmlns:a16="http://schemas.microsoft.com/office/drawing/2014/main" id="{3DD5287C-907C-4D49-86E6-160B764800BF}"/>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407B4A93-3AF2-429D-B0D0-B79E8C4DD789}"/>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Penulis turut merujuk keutamaan majlis zikir dan lafaz tertentu.</a:t>
            </a:r>
          </a:p>
        </p:txBody>
      </p:sp>
      <p:sp>
        <p:nvSpPr>
          <p:cNvPr id="9" name="">
            <a:extLst xmlns:a="http://schemas.openxmlformats.org/drawingml/2006/main">
              <a:ext uri="{FF2B5EF4-FFF2-40B4-BE49-F238E27FC236}">
                <a16:creationId xmlns:a16="http://schemas.microsoft.com/office/drawing/2014/main" id="{8F5EB15A-4A93-44B5-AB34-FD325DB713B0}"/>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B009C1A1-06ED-4CD6-8F62-975389DCEC94}"/>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Penilaian setiap riwayat memerlukan semakan teks, edisi dan takhrij hadis secara berasingan.</a:t>
            </a:r>
          </a:p>
        </p:txBody>
      </p:sp>
    </p:spTree>
    <p:extLst>
      <p:ext uri="{BB962C8B-B14F-4D97-AF65-F5344CB8AC3E}">
        <p14:creationId xmlns:p14="http://schemas.microsoft.com/office/powerpoint/2010/main" val="37562392"/>
      </p:ext>
    </p:extLst>
  </p:cSld>
</p:sld>
</file>

<file path=ppt/slides/slide2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CB5DE1-EEE2-4DEB-97E0-E0B4C09DD18B}"/>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KAEDAH PENGAMALAN</a:t>
            </a:r>
          </a:p>
        </p:txBody>
      </p:sp>
      <p:sp>
        <p:nvSpPr>
          <p:cNvPr id="2" name="">
            <a:extLst xmlns:a="http://schemas.openxmlformats.org/drawingml/2006/main">
              <a:ext uri="{FF2B5EF4-FFF2-40B4-BE49-F238E27FC236}">
                <a16:creationId xmlns:a16="http://schemas.microsoft.com/office/drawing/2014/main" id="{8E12EFF9-549A-4C39-8D92-10561B9E1B8C}"/>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Waktu, tempat dan bimbingan</a:t>
            </a:r>
          </a:p>
        </p:txBody>
      </p:sp>
      <p:sp>
        <p:nvSpPr>
          <p:cNvPr id="3" name="">
            <a:extLst xmlns:a="http://schemas.openxmlformats.org/drawingml/2006/main">
              <a:ext uri="{FF2B5EF4-FFF2-40B4-BE49-F238E27FC236}">
                <a16:creationId xmlns:a16="http://schemas.microsoft.com/office/drawing/2014/main" id="{E9B641BF-4895-491D-97C8-70B4739ECA00}"/>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105–106</a:t>
            </a:r>
          </a:p>
        </p:txBody>
      </p:sp>
      <p:sp>
        <p:nvSpPr>
          <p:cNvPr id="4" name="">
            <a:extLst xmlns:a="http://schemas.openxmlformats.org/drawingml/2006/main">
              <a:ext uri="{FF2B5EF4-FFF2-40B4-BE49-F238E27FC236}">
                <a16:creationId xmlns:a16="http://schemas.microsoft.com/office/drawing/2014/main" id="{4CC4299F-9C42-41EA-BBDD-01AFBEB1F95B}"/>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29</a:t>
            </a:r>
          </a:p>
        </p:txBody>
      </p:sp>
      <p:sp>
        <p:nvSpPr>
          <p:cNvPr id="5" name="">
            <a:extLst xmlns:a="http://schemas.openxmlformats.org/drawingml/2006/main">
              <a:ext uri="{FF2B5EF4-FFF2-40B4-BE49-F238E27FC236}">
                <a16:creationId xmlns:a16="http://schemas.microsoft.com/office/drawing/2014/main" id="{4F8EA139-46AA-45F6-B9E9-414B99091200}"/>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BB6593C9-6930-41C1-9335-074CD11DA438}"/>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Menurut artikel, amalan boleh dilakukan bersendirian atau berjemaah pada waktu yang sesuai.</a:t>
            </a:r>
          </a:p>
        </p:txBody>
      </p:sp>
      <p:sp>
        <p:nvSpPr>
          <p:cNvPr id="7" name="">
            <a:extLst xmlns:a="http://schemas.openxmlformats.org/drawingml/2006/main">
              <a:ext uri="{FF2B5EF4-FFF2-40B4-BE49-F238E27FC236}">
                <a16:creationId xmlns:a16="http://schemas.microsoft.com/office/drawing/2014/main" id="{27CAA50F-CFD6-4303-99A5-7025C8E4781B}"/>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6270B29A-FFE9-4747-B7AA-7289B5A0F152}"/>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Masjid, surau, madrasah dan rumah antara lokasi yang disebut.</a:t>
            </a:r>
          </a:p>
        </p:txBody>
      </p:sp>
      <p:sp>
        <p:nvSpPr>
          <p:cNvPr id="9" name="">
            <a:extLst xmlns:a="http://schemas.openxmlformats.org/drawingml/2006/main">
              <a:ext uri="{FF2B5EF4-FFF2-40B4-BE49-F238E27FC236}">
                <a16:creationId xmlns:a16="http://schemas.microsoft.com/office/drawing/2014/main" id="{F22D03AE-9A93-4E51-8A34-2E8318AEAE7A}"/>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9E31654E-2BFD-40FD-A20D-9D415F70DCF9}"/>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Dalam majlis berjemaah, pembimbing membantu ketepatan bacaan dan kefahaman peserta.</a:t>
            </a:r>
          </a:p>
        </p:txBody>
      </p:sp>
    </p:spTree>
    <p:extLst>
      <p:ext uri="{BB962C8B-B14F-4D97-AF65-F5344CB8AC3E}">
        <p14:creationId xmlns:p14="http://schemas.microsoft.com/office/powerpoint/2010/main" val="2135919507"/>
      </p:ext>
    </p:extLst>
  </p:cSld>
</p:sld>
</file>

<file path=ppt/slides/slide3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F491D1-C997-4C9C-A11C-405CE41671ED}"/>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NOTA AKADEMIK</a:t>
            </a:r>
          </a:p>
        </p:txBody>
      </p:sp>
      <p:sp>
        <p:nvSpPr>
          <p:cNvPr id="2" name="">
            <a:extLst xmlns:a="http://schemas.openxmlformats.org/drawingml/2006/main">
              <a:ext uri="{FF2B5EF4-FFF2-40B4-BE49-F238E27FC236}">
                <a16:creationId xmlns:a16="http://schemas.microsoft.com/office/drawing/2014/main" id="{D0B552F5-5FB8-452A-B884-E341490AEC1D}"/>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Ketelitian membaca sumber</a:t>
            </a:r>
          </a:p>
        </p:txBody>
      </p:sp>
      <p:sp>
        <p:nvSpPr>
          <p:cNvPr id="3" name="">
            <a:extLst xmlns:a="http://schemas.openxmlformats.org/drawingml/2006/main">
              <a:ext uri="{FF2B5EF4-FFF2-40B4-BE49-F238E27FC236}">
                <a16:creationId xmlns:a16="http://schemas.microsoft.com/office/drawing/2014/main" id="{4140D341-1074-43CB-AFEC-2150B3668654}"/>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103–105</a:t>
            </a:r>
          </a:p>
        </p:txBody>
      </p:sp>
      <p:sp>
        <p:nvSpPr>
          <p:cNvPr id="4" name="">
            <a:extLst xmlns:a="http://schemas.openxmlformats.org/drawingml/2006/main">
              <a:ext uri="{FF2B5EF4-FFF2-40B4-BE49-F238E27FC236}">
                <a16:creationId xmlns:a16="http://schemas.microsoft.com/office/drawing/2014/main" id="{2A80F4F9-ECE3-46B3-841A-D6F802520AB6}"/>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30</a:t>
            </a:r>
          </a:p>
        </p:txBody>
      </p:sp>
      <p:sp>
        <p:nvSpPr>
          <p:cNvPr id="5" name="">
            <a:extLst xmlns:a="http://schemas.openxmlformats.org/drawingml/2006/main">
              <a:ext uri="{FF2B5EF4-FFF2-40B4-BE49-F238E27FC236}">
                <a16:creationId xmlns:a16="http://schemas.microsoft.com/office/drawing/2014/main" id="{90ADAFFF-2E6D-4750-9B7B-040837F916A2}"/>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65055532-DACA-4E02-8825-100DEA23685B}"/>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Bilangan zikir: perenggan khusus menyebut 11 kali bagi bacaan 15, 16 dan 17, tetapi rumusan menyebut hanya dua bacaan 11 kali.</a:t>
            </a:r>
          </a:p>
        </p:txBody>
      </p:sp>
      <p:sp>
        <p:nvSpPr>
          <p:cNvPr id="7" name="">
            <a:extLst xmlns:a="http://schemas.openxmlformats.org/drawingml/2006/main">
              <a:ext uri="{FF2B5EF4-FFF2-40B4-BE49-F238E27FC236}">
                <a16:creationId xmlns:a16="http://schemas.microsoft.com/office/drawing/2014/main" id="{CA1595FE-F595-4BDB-8EDF-AB2252D36748}"/>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0AD66560-AAD6-4CA8-B96A-663B83B35126}"/>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Rumusan artikel menyebut 12 bacaan diulang 3 kali. Senarai perenggan khusus memberikan 10 bacaan sedemikian.</a:t>
            </a:r>
          </a:p>
        </p:txBody>
      </p:sp>
      <p:sp>
        <p:nvSpPr>
          <p:cNvPr id="9" name="">
            <a:extLst xmlns:a="http://schemas.openxmlformats.org/drawingml/2006/main">
              <a:ext uri="{FF2B5EF4-FFF2-40B4-BE49-F238E27FC236}">
                <a16:creationId xmlns:a16="http://schemas.microsoft.com/office/drawing/2014/main" id="{714BA19F-CF9C-496A-87BA-FAB0DA927A53}"/>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3ADA8C97-F2AB-4D61-A706-1693E4960015}"/>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Beberapa nombor surah dan terjemahan menunjukkan ketidakselarasan editorial. Rujukan perlu disemak sebelum penerbitan semula.</a:t>
            </a:r>
          </a:p>
        </p:txBody>
      </p:sp>
    </p:spTree>
    <p:extLst>
      <p:ext uri="{BB962C8B-B14F-4D97-AF65-F5344CB8AC3E}">
        <p14:creationId xmlns:p14="http://schemas.microsoft.com/office/powerpoint/2010/main" val="351184339"/>
      </p:ext>
    </p:extLst>
  </p:cSld>
</p:sld>
</file>

<file path=ppt/slides/slide3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C6F743-084C-43D9-AFAC-22BE4B31F5A2}"/>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PENUTUP</a:t>
            </a:r>
          </a:p>
        </p:txBody>
      </p:sp>
      <p:sp>
        <p:nvSpPr>
          <p:cNvPr id="2" name="">
            <a:extLst xmlns:a="http://schemas.openxmlformats.org/drawingml/2006/main">
              <a:ext uri="{FF2B5EF4-FFF2-40B4-BE49-F238E27FC236}">
                <a16:creationId xmlns:a16="http://schemas.microsoft.com/office/drawing/2014/main" id="{B9EC8C47-E064-43BF-96F2-CADBB090292B}"/>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Rumusan penulis dan batas dapatan</a:t>
            </a:r>
          </a:p>
        </p:txBody>
      </p:sp>
      <p:sp>
        <p:nvSpPr>
          <p:cNvPr id="3" name="">
            <a:extLst xmlns:a="http://schemas.openxmlformats.org/drawingml/2006/main">
              <a:ext uri="{FF2B5EF4-FFF2-40B4-BE49-F238E27FC236}">
                <a16:creationId xmlns:a16="http://schemas.microsoft.com/office/drawing/2014/main" id="{A8F8C493-DA8E-45FF-9119-EDF214098E25}"/>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106</a:t>
            </a:r>
          </a:p>
        </p:txBody>
      </p:sp>
      <p:sp>
        <p:nvSpPr>
          <p:cNvPr id="4" name="">
            <a:extLst xmlns:a="http://schemas.openxmlformats.org/drawingml/2006/main">
              <a:ext uri="{FF2B5EF4-FFF2-40B4-BE49-F238E27FC236}">
                <a16:creationId xmlns:a16="http://schemas.microsoft.com/office/drawing/2014/main" id="{5902BDDF-FECD-43DD-B8C1-6D7EBAA60871}"/>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31</a:t>
            </a:r>
          </a:p>
        </p:txBody>
      </p:sp>
      <p:sp>
        <p:nvSpPr>
          <p:cNvPr id="5" name="">
            <a:extLst xmlns:a="http://schemas.openxmlformats.org/drawingml/2006/main">
              <a:ext uri="{FF2B5EF4-FFF2-40B4-BE49-F238E27FC236}">
                <a16:creationId xmlns:a16="http://schemas.microsoft.com/office/drawing/2014/main" id="{7BC250C8-A5B6-4ABE-BC8F-5009EDA674F7}"/>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E377F139-C657-4538-B27B-7F0CCFF83F3B}"/>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Penulis menyimpulkan 17 zikir dan bentuk pengamalan Ratib al-Attas selaras dengan dalil yang mereka bincangkan.</a:t>
            </a:r>
          </a:p>
        </p:txBody>
      </p:sp>
      <p:sp>
        <p:nvSpPr>
          <p:cNvPr id="7" name="">
            <a:extLst xmlns:a="http://schemas.openxmlformats.org/drawingml/2006/main">
              <a:ext uri="{FF2B5EF4-FFF2-40B4-BE49-F238E27FC236}">
                <a16:creationId xmlns:a16="http://schemas.microsoft.com/office/drawing/2014/main" id="{90A182F1-369F-4996-A657-75FED33C01B5}"/>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BE88D404-1B31-44A8-83FF-83E16893FA90}"/>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Artikel mencadangkan peluasan amalan dalam komuniti, institusi pendidikan dan tempat ibadah.</a:t>
            </a:r>
          </a:p>
        </p:txBody>
      </p:sp>
      <p:sp>
        <p:nvSpPr>
          <p:cNvPr id="9" name="">
            <a:extLst xmlns:a="http://schemas.openxmlformats.org/drawingml/2006/main">
              <a:ext uri="{FF2B5EF4-FFF2-40B4-BE49-F238E27FC236}">
                <a16:creationId xmlns:a16="http://schemas.microsoft.com/office/drawing/2014/main" id="{6BA15DD7-50D8-4B5E-A7BE-3313B43759AF}"/>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DC11CBEE-D40C-4892-8BAC-27314F74F2DA}"/>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Kesimpulan ini ialah penilaian keagamaan berasaskan sumber yang dipilih oleh penulis. Tiada pengujian empirikal kesan kesejahteraan.</a:t>
            </a:r>
          </a:p>
        </p:txBody>
      </p:sp>
    </p:spTree>
    <p:extLst>
      <p:ext uri="{BB962C8B-B14F-4D97-AF65-F5344CB8AC3E}">
        <p14:creationId xmlns:p14="http://schemas.microsoft.com/office/powerpoint/2010/main" val="537285015"/>
      </p:ext>
    </p:extLst>
  </p:cSld>
</p:sld>
</file>

<file path=ppt/slides/slide3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9E4792-C5B6-45C2-9B6A-F7BE7895A347}"/>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CATATAN TERHADAP CETAKAN ARTIKEL</a:t>
            </a:r>
          </a:p>
        </p:txBody>
      </p:sp>
      <p:sp>
        <p:nvSpPr>
          <p:cNvPr id="2" name="">
            <a:extLst xmlns:a="http://schemas.openxmlformats.org/drawingml/2006/main">
              <a:ext uri="{FF2B5EF4-FFF2-40B4-BE49-F238E27FC236}">
                <a16:creationId xmlns:a16="http://schemas.microsoft.com/office/drawing/2014/main" id="{1557E89E-D630-4EEA-B148-5D80361B99A8}"/>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Pembetulan rujukan al-Quran</a:t>
            </a:r>
          </a:p>
        </p:txBody>
      </p:sp>
      <p:sp>
        <p:nvSpPr>
          <p:cNvPr id="3" name="">
            <a:extLst xmlns:a="http://schemas.openxmlformats.org/drawingml/2006/main">
              <a:ext uri="{FF2B5EF4-FFF2-40B4-BE49-F238E27FC236}">
                <a16:creationId xmlns:a16="http://schemas.microsoft.com/office/drawing/2014/main" id="{284E9337-F2FE-4237-AA92-223F732D6C79}"/>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104–105</a:t>
            </a:r>
          </a:p>
        </p:txBody>
      </p:sp>
      <p:sp>
        <p:nvSpPr>
          <p:cNvPr id="4" name="">
            <a:extLst xmlns:a="http://schemas.openxmlformats.org/drawingml/2006/main">
              <a:ext uri="{FF2B5EF4-FFF2-40B4-BE49-F238E27FC236}">
                <a16:creationId xmlns:a16="http://schemas.microsoft.com/office/drawing/2014/main" id="{2573CD8C-6960-44D1-9B11-F8E528C414A9}"/>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32</a:t>
            </a:r>
          </a:p>
        </p:txBody>
      </p:sp>
      <p:sp>
        <p:nvSpPr>
          <p:cNvPr id="5" name="">
            <a:extLst xmlns:a="http://schemas.openxmlformats.org/drawingml/2006/main">
              <a:ext uri="{FF2B5EF4-FFF2-40B4-BE49-F238E27FC236}">
                <a16:creationId xmlns:a16="http://schemas.microsoft.com/office/drawing/2014/main" id="{C6315A91-90B8-4B94-A0AB-68422836C39D}"/>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B0E8ED7B-560E-4304-ADC6-39201FEF5C63}"/>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Asmaul Husna: al-A‘raf 7:180, bukan 7:108. Al-Isra’ 17:110, bukan 15:110.</a:t>
            </a:r>
          </a:p>
        </p:txBody>
      </p:sp>
      <p:sp>
        <p:nvSpPr>
          <p:cNvPr id="7" name="">
            <a:extLst xmlns:a="http://schemas.openxmlformats.org/drawingml/2006/main">
              <a:ext uri="{FF2B5EF4-FFF2-40B4-BE49-F238E27FC236}">
                <a16:creationId xmlns:a16="http://schemas.microsoft.com/office/drawing/2014/main" id="{ABD038C8-5A01-41D0-80AA-EB1FFEB86941}"/>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8A686901-CAF8-43F7-AE9B-3A4C545E374A}"/>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Perintah berselawat: al-Ahzab 33:56, bukan 21:56.</a:t>
            </a:r>
          </a:p>
        </p:txBody>
      </p:sp>
      <p:sp>
        <p:nvSpPr>
          <p:cNvPr id="9" name="">
            <a:extLst xmlns:a="http://schemas.openxmlformats.org/drawingml/2006/main">
              <a:ext uri="{FF2B5EF4-FFF2-40B4-BE49-F238E27FC236}">
                <a16:creationId xmlns:a16="http://schemas.microsoft.com/office/drawing/2014/main" id="{E469CF12-2B6B-4FE8-BE99-81F933124E1B}"/>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24AB3130-374B-4696-BB39-6064CB4BDB55}"/>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Tujuh ayat yang berulang: al-Hijr 15:87, bukan 14:87.</a:t>
            </a:r>
          </a:p>
        </p:txBody>
      </p:sp>
    </p:spTree>
    <p:extLst>
      <p:ext uri="{BB962C8B-B14F-4D97-AF65-F5344CB8AC3E}">
        <p14:creationId xmlns:p14="http://schemas.microsoft.com/office/powerpoint/2010/main" val="1337809142"/>
      </p:ext>
    </p:extLst>
  </p:cSld>
</p:sld>
</file>

<file path=ppt/slides/slide3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71B87D-0EAF-4D7D-A52C-545C86A05E78}"/>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CATATAN TERHADAP CETAKAN ARTIKEL</a:t>
            </a:r>
          </a:p>
        </p:txBody>
      </p:sp>
      <p:sp>
        <p:nvSpPr>
          <p:cNvPr id="2" name="">
            <a:extLst xmlns:a="http://schemas.openxmlformats.org/drawingml/2006/main">
              <a:ext uri="{FF2B5EF4-FFF2-40B4-BE49-F238E27FC236}">
                <a16:creationId xmlns:a16="http://schemas.microsoft.com/office/drawing/2014/main" id="{2B1B2CF3-5E74-4B6F-9B95-EFAE6C68DD31}"/>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Terjemahan dan bilangan bacaan</a:t>
            </a:r>
          </a:p>
        </p:txBody>
      </p:sp>
      <p:sp>
        <p:nvSpPr>
          <p:cNvPr id="3" name="">
            <a:extLst xmlns:a="http://schemas.openxmlformats.org/drawingml/2006/main">
              <a:ext uri="{FF2B5EF4-FFF2-40B4-BE49-F238E27FC236}">
                <a16:creationId xmlns:a16="http://schemas.microsoft.com/office/drawing/2014/main" id="{EFD6B5A7-39DB-4804-A044-3062F6389CD8}"/>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103–105</a:t>
            </a:r>
          </a:p>
        </p:txBody>
      </p:sp>
      <p:sp>
        <p:nvSpPr>
          <p:cNvPr id="4" name="">
            <a:extLst xmlns:a="http://schemas.openxmlformats.org/drawingml/2006/main">
              <a:ext uri="{FF2B5EF4-FFF2-40B4-BE49-F238E27FC236}">
                <a16:creationId xmlns:a16="http://schemas.microsoft.com/office/drawing/2014/main" id="{A6A2AFC0-1360-44AB-AEE4-28090AE8A981}"/>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33</a:t>
            </a:r>
          </a:p>
        </p:txBody>
      </p:sp>
      <p:sp>
        <p:nvSpPr>
          <p:cNvPr id="5" name="">
            <a:extLst xmlns:a="http://schemas.openxmlformats.org/drawingml/2006/main">
              <a:ext uri="{FF2B5EF4-FFF2-40B4-BE49-F238E27FC236}">
                <a16:creationId xmlns:a16="http://schemas.microsoft.com/office/drawing/2014/main" id="{C6BE26EF-5F89-4082-BE11-62720FB75C7A}"/>
              </a:ext>
            </a:extLst>
          </p:cNvPr>
          <p:cNvSpPr>
            <a:spLocks xmlns:a="http://schemas.openxmlformats.org/drawingml/2006/main" noGrp="1"/>
          </p:cNvSpPr>
          <p:nvPr/>
        </p:nvSpPr>
        <p:spPr>
          <a:xfrm xmlns:a="http://schemas.openxmlformats.org/drawingml/2006/main">
            <a:off x="647700" y="223837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779704E6-759A-4BFD-83E7-BB6A34818376}"/>
              </a:ext>
            </a:extLst>
          </p:cNvPr>
          <p:cNvSpPr>
            <a:spLocks xmlns:a="http://schemas.openxmlformats.org/drawingml/2006/main" noGrp="1"/>
          </p:cNvSpPr>
          <p:nvPr/>
        </p:nvSpPr>
        <p:spPr>
          <a:xfrm xmlns:a="http://schemas.openxmlformats.org/drawingml/2006/main">
            <a:off x="1447800" y="220027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Basmalah: al-Rahim diterjemahkan sebagai Maha Penyayang. Cetakan artikel menggunakan Maha Mengetahui.</a:t>
            </a:r>
          </a:p>
        </p:txBody>
      </p:sp>
      <p:sp>
        <p:nvSpPr>
          <p:cNvPr id="7" name="">
            <a:extLst xmlns:a="http://schemas.openxmlformats.org/drawingml/2006/main">
              <a:ext uri="{FF2B5EF4-FFF2-40B4-BE49-F238E27FC236}">
                <a16:creationId xmlns:a16="http://schemas.microsoft.com/office/drawing/2014/main" id="{96AA24D0-2A5F-43EC-BFEA-5F22543AF32A}"/>
              </a:ext>
            </a:extLst>
          </p:cNvPr>
          <p:cNvSpPr>
            <a:spLocks xmlns:a="http://schemas.openxmlformats.org/drawingml/2006/main" noGrp="1"/>
          </p:cNvSpPr>
          <p:nvPr/>
        </p:nvSpPr>
        <p:spPr>
          <a:xfrm xmlns:a="http://schemas.openxmlformats.org/drawingml/2006/main">
            <a:off x="647700" y="342900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CCADB509-AFDF-41F4-8CFA-5FC41D599EBD}"/>
              </a:ext>
            </a:extLst>
          </p:cNvPr>
          <p:cNvSpPr>
            <a:spLocks xmlns:a="http://schemas.openxmlformats.org/drawingml/2006/main" noGrp="1"/>
          </p:cNvSpPr>
          <p:nvPr/>
        </p:nvSpPr>
        <p:spPr>
          <a:xfrm xmlns:a="http://schemas.openxmlformats.org/drawingml/2006/main">
            <a:off x="1447800" y="3390900"/>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Bilangan dalam slaid mengikuti setiap perenggan khusus. Rumusan bilangan pada halaman 105 tidak sepadan dengan senarai tersebut.</a:t>
            </a:r>
          </a:p>
        </p:txBody>
      </p:sp>
      <p:sp>
        <p:nvSpPr>
          <p:cNvPr id="9" name="">
            <a:extLst xmlns:a="http://schemas.openxmlformats.org/drawingml/2006/main">
              <a:ext uri="{FF2B5EF4-FFF2-40B4-BE49-F238E27FC236}">
                <a16:creationId xmlns:a16="http://schemas.microsoft.com/office/drawing/2014/main" id="{A74E3F9F-19C7-4A4B-A488-815765813E31}"/>
              </a:ext>
            </a:extLst>
          </p:cNvPr>
          <p:cNvSpPr>
            <a:spLocks xmlns:a="http://schemas.openxmlformats.org/drawingml/2006/main" noGrp="1"/>
          </p:cNvSpPr>
          <p:nvPr/>
        </p:nvSpPr>
        <p:spPr>
          <a:xfrm xmlns:a="http://schemas.openxmlformats.org/drawingml/2006/main">
            <a:off x="647700" y="4619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B38B43"/>
                </a:solidFill>
                <a:latin typeface="DejaVu Sans"/>
                <a:ea typeface="DejaVu Sans"/>
                <a:cs typeface="DejaVu Sans"/>
              </a:defRPr>
            </a:defPPr>
            <a:lvl1pPr>
              <a:defRPr sz="1875" b="1">
                <a:solidFill>
                  <a:srgbClr val="B38B43"/>
                </a:solidFill>
                <a:latin typeface="DejaVu Sans"/>
                <a:ea typeface="DejaVu Sans"/>
                <a:cs typeface="DejaVu Sans"/>
              </a:defRPr>
            </a:lvl1pPr>
            <a:lvl2pPr>
              <a:defRPr sz="1875" b="1">
                <a:solidFill>
                  <a:srgbClr val="B38B43"/>
                </a:solidFill>
                <a:latin typeface="DejaVu Sans"/>
                <a:ea typeface="DejaVu Sans"/>
                <a:cs typeface="DejaVu Sans"/>
              </a:defRPr>
            </a:lvl2pPr>
            <a:lvl3pPr>
              <a:defRPr sz="1875" b="1">
                <a:solidFill>
                  <a:srgbClr val="B38B43"/>
                </a:solidFill>
                <a:latin typeface="DejaVu Sans"/>
                <a:ea typeface="DejaVu Sans"/>
                <a:cs typeface="DejaVu Sans"/>
              </a:defRPr>
            </a:lvl3pPr>
            <a:lvl4pPr>
              <a:defRPr sz="1875" b="1">
                <a:solidFill>
                  <a:srgbClr val="B38B43"/>
                </a:solidFill>
                <a:latin typeface="DejaVu Sans"/>
                <a:ea typeface="DejaVu Sans"/>
                <a:cs typeface="DejaVu Sans"/>
              </a:defRPr>
            </a:lvl4pPr>
            <a:lvl5pPr>
              <a:defRPr sz="1875" b="1">
                <a:solidFill>
                  <a:srgbClr val="B38B43"/>
                </a:solidFill>
                <a:latin typeface="DejaVu Sans"/>
                <a:ea typeface="DejaVu Sans"/>
                <a:cs typeface="DejaVu Sans"/>
              </a:defRPr>
            </a:lvl5pPr>
            <a:lvl6pPr>
              <a:defRPr sz="1875" b="1">
                <a:solidFill>
                  <a:srgbClr val="B38B43"/>
                </a:solidFill>
                <a:latin typeface="DejaVu Sans"/>
                <a:ea typeface="DejaVu Sans"/>
                <a:cs typeface="DejaVu Sans"/>
              </a:defRPr>
            </a:lvl6pPr>
            <a:lvl7pPr>
              <a:defRPr sz="1875" b="1">
                <a:solidFill>
                  <a:srgbClr val="B38B43"/>
                </a:solidFill>
                <a:latin typeface="DejaVu Sans"/>
                <a:ea typeface="DejaVu Sans"/>
                <a:cs typeface="DejaVu Sans"/>
              </a:defRPr>
            </a:lvl7pPr>
            <a:lvl8pPr>
              <a:defRPr sz="1875" b="1">
                <a:solidFill>
                  <a:srgbClr val="B38B43"/>
                </a:solidFill>
                <a:latin typeface="DejaVu Sans"/>
                <a:ea typeface="DejaVu Sans"/>
                <a:cs typeface="DejaVu Sans"/>
              </a:defRPr>
            </a:lvl8pPr>
            <a:lvl9pPr>
              <a:defRPr sz="1875" b="1">
                <a:solidFill>
                  <a:srgbClr val="B38B43"/>
                </a:solidFill>
                <a:latin typeface="DejaVu Sans"/>
                <a:ea typeface="DejaVu Sans"/>
                <a:cs typeface="DejaVu Sans"/>
              </a:defRPr>
            </a:lvl9pPr>
          </a:lstStyle>
          <a:p xmlns:a="http://schemas.openxmlformats.org/drawingml/2006/main">
            <a:pPr>
              <a:defRPr sz="1875" b="1">
                <a:solidFill>
                  <a:srgbClr val="B38B43"/>
                </a:solidFill>
                <a:latin typeface="DejaVu Sans"/>
                <a:ea typeface="DejaVu Sans"/>
                <a:cs typeface="DejaVu Sans"/>
              </a:defRPr>
            </a:pPr>
            <a:r>
              <a:rPr sz="1875" b="1">
                <a:solidFill>
                  <a:srgbClr val="B38B4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378429EB-F77C-440D-A80A-A32B48B41D15}"/>
              </a:ext>
            </a:extLst>
          </p:cNvPr>
          <p:cNvSpPr>
            <a:spLocks xmlns:a="http://schemas.openxmlformats.org/drawingml/2006/main" noGrp="1"/>
          </p:cNvSpPr>
          <p:nvPr/>
        </p:nvSpPr>
        <p:spPr>
          <a:xfrm xmlns:a="http://schemas.openxmlformats.org/drawingml/2006/main">
            <a:off x="1447800" y="4581525"/>
            <a:ext cx="10001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Lafaz zikir 8 diperbetulkan mengikut Quran NU Online kerana keciciran kalimah dalam cetakan artikel. Rujukan pembetulan tersedia dalam nota.</a:t>
            </a:r>
          </a:p>
        </p:txBody>
      </p:sp>
    </p:spTree>
    <p:extLst>
      <p:ext uri="{BB962C8B-B14F-4D97-AF65-F5344CB8AC3E}">
        <p14:creationId xmlns:p14="http://schemas.microsoft.com/office/powerpoint/2010/main" val="538870431"/>
      </p:ext>
    </p:extLst>
  </p:cSld>
</p:sld>
</file>

<file path=ppt/slides/slide3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53C57E-590E-474C-9E2F-13D674F52D7C}"/>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B38B43"/>
                </a:solidFill>
                <a:latin typeface="DejaVu Sans"/>
                <a:ea typeface="DejaVu Sans"/>
                <a:cs typeface="DejaVu Sans"/>
              </a:defRPr>
            </a:defPPr>
            <a:lvl1pPr>
              <a:defRPr sz="1125" b="1">
                <a:solidFill>
                  <a:srgbClr val="B38B43"/>
                </a:solidFill>
                <a:latin typeface="DejaVu Sans"/>
                <a:ea typeface="DejaVu Sans"/>
                <a:cs typeface="DejaVu Sans"/>
              </a:defRPr>
            </a:lvl1pPr>
            <a:lvl2pPr>
              <a:defRPr sz="1125" b="1">
                <a:solidFill>
                  <a:srgbClr val="B38B43"/>
                </a:solidFill>
                <a:latin typeface="DejaVu Sans"/>
                <a:ea typeface="DejaVu Sans"/>
                <a:cs typeface="DejaVu Sans"/>
              </a:defRPr>
            </a:lvl2pPr>
            <a:lvl3pPr>
              <a:defRPr sz="1125" b="1">
                <a:solidFill>
                  <a:srgbClr val="B38B43"/>
                </a:solidFill>
                <a:latin typeface="DejaVu Sans"/>
                <a:ea typeface="DejaVu Sans"/>
                <a:cs typeface="DejaVu Sans"/>
              </a:defRPr>
            </a:lvl3pPr>
            <a:lvl4pPr>
              <a:defRPr sz="1125" b="1">
                <a:solidFill>
                  <a:srgbClr val="B38B43"/>
                </a:solidFill>
                <a:latin typeface="DejaVu Sans"/>
                <a:ea typeface="DejaVu Sans"/>
                <a:cs typeface="DejaVu Sans"/>
              </a:defRPr>
            </a:lvl4pPr>
            <a:lvl5pPr>
              <a:defRPr sz="1125" b="1">
                <a:solidFill>
                  <a:srgbClr val="B38B43"/>
                </a:solidFill>
                <a:latin typeface="DejaVu Sans"/>
                <a:ea typeface="DejaVu Sans"/>
                <a:cs typeface="DejaVu Sans"/>
              </a:defRPr>
            </a:lvl5pPr>
            <a:lvl6pPr>
              <a:defRPr sz="1125" b="1">
                <a:solidFill>
                  <a:srgbClr val="B38B43"/>
                </a:solidFill>
                <a:latin typeface="DejaVu Sans"/>
                <a:ea typeface="DejaVu Sans"/>
                <a:cs typeface="DejaVu Sans"/>
              </a:defRPr>
            </a:lvl6pPr>
            <a:lvl7pPr>
              <a:defRPr sz="1125" b="1">
                <a:solidFill>
                  <a:srgbClr val="B38B43"/>
                </a:solidFill>
                <a:latin typeface="DejaVu Sans"/>
                <a:ea typeface="DejaVu Sans"/>
                <a:cs typeface="DejaVu Sans"/>
              </a:defRPr>
            </a:lvl7pPr>
            <a:lvl8pPr>
              <a:defRPr sz="1125" b="1">
                <a:solidFill>
                  <a:srgbClr val="B38B43"/>
                </a:solidFill>
                <a:latin typeface="DejaVu Sans"/>
                <a:ea typeface="DejaVu Sans"/>
                <a:cs typeface="DejaVu Sans"/>
              </a:defRPr>
            </a:lvl8pPr>
            <a:lvl9pPr>
              <a:defRPr sz="1125" b="1">
                <a:solidFill>
                  <a:srgbClr val="B38B43"/>
                </a:solidFill>
                <a:latin typeface="DejaVu Sans"/>
                <a:ea typeface="DejaVu Sans"/>
                <a:cs typeface="DejaVu Sans"/>
              </a:defRPr>
            </a:lvl9pPr>
          </a:lstStyle>
          <a:p xmlns:a="http://schemas.openxmlformats.org/drawingml/2006/main">
            <a:pPr>
              <a:defRPr sz="1125" b="1">
                <a:solidFill>
                  <a:srgbClr val="B38B43"/>
                </a:solidFill>
                <a:latin typeface="DejaVu Sans"/>
                <a:ea typeface="DejaVu Sans"/>
                <a:cs typeface="DejaVu Sans"/>
              </a:defRPr>
            </a:pPr>
            <a:r>
              <a:rPr sz="1125" b="1">
                <a:solidFill>
                  <a:srgbClr val="B38B43"/>
                </a:solidFill>
                <a:latin typeface="DejaVu Sans"/>
                <a:ea typeface="DejaVu Sans"/>
                <a:cs typeface="DejaVu Sans"/>
              </a:rPr>
              <a:t>SUMBER PEMBENTANGAN</a:t>
            </a:r>
          </a:p>
        </p:txBody>
      </p:sp>
      <p:sp>
        <p:nvSpPr>
          <p:cNvPr id="2" name="">
            <a:extLst xmlns:a="http://schemas.openxmlformats.org/drawingml/2006/main">
              <a:ext uri="{FF2B5EF4-FFF2-40B4-BE49-F238E27FC236}">
                <a16:creationId xmlns:a16="http://schemas.microsoft.com/office/drawing/2014/main" id="{E4334C1B-957F-4B47-81A4-20022B97477A}"/>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3F37"/>
                </a:solidFill>
                <a:latin typeface="DejaVu Sans"/>
                <a:ea typeface="DejaVu Sans"/>
                <a:cs typeface="DejaVu Sans"/>
              </a:defRPr>
            </a:defPPr>
            <a:lvl1pPr>
              <a:defRPr sz="3300" b="1">
                <a:solidFill>
                  <a:srgbClr val="173F37"/>
                </a:solidFill>
                <a:latin typeface="DejaVu Sans"/>
                <a:ea typeface="DejaVu Sans"/>
                <a:cs typeface="DejaVu Sans"/>
              </a:defRPr>
            </a:lvl1pPr>
            <a:lvl2pPr>
              <a:defRPr sz="3300" b="1">
                <a:solidFill>
                  <a:srgbClr val="173F37"/>
                </a:solidFill>
                <a:latin typeface="DejaVu Sans"/>
                <a:ea typeface="DejaVu Sans"/>
                <a:cs typeface="DejaVu Sans"/>
              </a:defRPr>
            </a:lvl2pPr>
            <a:lvl3pPr>
              <a:defRPr sz="3300" b="1">
                <a:solidFill>
                  <a:srgbClr val="173F37"/>
                </a:solidFill>
                <a:latin typeface="DejaVu Sans"/>
                <a:ea typeface="DejaVu Sans"/>
                <a:cs typeface="DejaVu Sans"/>
              </a:defRPr>
            </a:lvl3pPr>
            <a:lvl4pPr>
              <a:defRPr sz="3300" b="1">
                <a:solidFill>
                  <a:srgbClr val="173F37"/>
                </a:solidFill>
                <a:latin typeface="DejaVu Sans"/>
                <a:ea typeface="DejaVu Sans"/>
                <a:cs typeface="DejaVu Sans"/>
              </a:defRPr>
            </a:lvl4pPr>
            <a:lvl5pPr>
              <a:defRPr sz="3300" b="1">
                <a:solidFill>
                  <a:srgbClr val="173F37"/>
                </a:solidFill>
                <a:latin typeface="DejaVu Sans"/>
                <a:ea typeface="DejaVu Sans"/>
                <a:cs typeface="DejaVu Sans"/>
              </a:defRPr>
            </a:lvl5pPr>
            <a:lvl6pPr>
              <a:defRPr sz="3300" b="1">
                <a:solidFill>
                  <a:srgbClr val="173F37"/>
                </a:solidFill>
                <a:latin typeface="DejaVu Sans"/>
                <a:ea typeface="DejaVu Sans"/>
                <a:cs typeface="DejaVu Sans"/>
              </a:defRPr>
            </a:lvl6pPr>
            <a:lvl7pPr>
              <a:defRPr sz="3300" b="1">
                <a:solidFill>
                  <a:srgbClr val="173F37"/>
                </a:solidFill>
                <a:latin typeface="DejaVu Sans"/>
                <a:ea typeface="DejaVu Sans"/>
                <a:cs typeface="DejaVu Sans"/>
              </a:defRPr>
            </a:lvl7pPr>
            <a:lvl8pPr>
              <a:defRPr sz="3300" b="1">
                <a:solidFill>
                  <a:srgbClr val="173F37"/>
                </a:solidFill>
                <a:latin typeface="DejaVu Sans"/>
                <a:ea typeface="DejaVu Sans"/>
                <a:cs typeface="DejaVu Sans"/>
              </a:defRPr>
            </a:lvl8pPr>
            <a:lvl9pPr>
              <a:defRPr sz="3300" b="1">
                <a:solidFill>
                  <a:srgbClr val="173F37"/>
                </a:solidFill>
                <a:latin typeface="DejaVu Sans"/>
                <a:ea typeface="DejaVu Sans"/>
                <a:cs typeface="DejaVu Sans"/>
              </a:defRPr>
            </a:lvl9pPr>
          </a:lstStyle>
          <a:p xmlns:a="http://schemas.openxmlformats.org/drawingml/2006/main">
            <a:pPr>
              <a:defRPr sz="3300" b="1">
                <a:solidFill>
                  <a:srgbClr val="173F37"/>
                </a:solidFill>
                <a:latin typeface="DejaVu Sans"/>
                <a:ea typeface="DejaVu Sans"/>
                <a:cs typeface="DejaVu Sans"/>
              </a:defRPr>
            </a:pPr>
            <a:r>
              <a:rPr sz="3300" b="1">
                <a:solidFill>
                  <a:srgbClr val="173F37"/>
                </a:solidFill>
                <a:latin typeface="DejaVu Sans"/>
                <a:ea typeface="DejaVu Sans"/>
                <a:cs typeface="DejaVu Sans"/>
              </a:rPr>
              <a:t>Rujukan utama</a:t>
            </a:r>
          </a:p>
        </p:txBody>
      </p:sp>
      <p:sp>
        <p:nvSpPr>
          <p:cNvPr id="3" name="">
            <a:extLst xmlns:a="http://schemas.openxmlformats.org/drawingml/2006/main">
              <a:ext uri="{FF2B5EF4-FFF2-40B4-BE49-F238E27FC236}">
                <a16:creationId xmlns:a16="http://schemas.microsoft.com/office/drawing/2014/main" id="{0AC7A249-948C-4FA8-98B7-E153A3457F39}"/>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56665F"/>
                </a:solidFill>
                <a:latin typeface="DejaVu Sans"/>
                <a:ea typeface="DejaVu Sans"/>
                <a:cs typeface="DejaVu Sans"/>
              </a:defRPr>
            </a:defPPr>
            <a:lvl1pPr>
              <a:defRPr sz="900" b="0">
                <a:solidFill>
                  <a:srgbClr val="56665F"/>
                </a:solidFill>
                <a:latin typeface="DejaVu Sans"/>
                <a:ea typeface="DejaVu Sans"/>
                <a:cs typeface="DejaVu Sans"/>
              </a:defRPr>
            </a:lvl1pPr>
            <a:lvl2pPr>
              <a:defRPr sz="900" b="0">
                <a:solidFill>
                  <a:srgbClr val="56665F"/>
                </a:solidFill>
                <a:latin typeface="DejaVu Sans"/>
                <a:ea typeface="DejaVu Sans"/>
                <a:cs typeface="DejaVu Sans"/>
              </a:defRPr>
            </a:lvl2pPr>
            <a:lvl3pPr>
              <a:defRPr sz="900" b="0">
                <a:solidFill>
                  <a:srgbClr val="56665F"/>
                </a:solidFill>
                <a:latin typeface="DejaVu Sans"/>
                <a:ea typeface="DejaVu Sans"/>
                <a:cs typeface="DejaVu Sans"/>
              </a:defRPr>
            </a:lvl3pPr>
            <a:lvl4pPr>
              <a:defRPr sz="900" b="0">
                <a:solidFill>
                  <a:srgbClr val="56665F"/>
                </a:solidFill>
                <a:latin typeface="DejaVu Sans"/>
                <a:ea typeface="DejaVu Sans"/>
                <a:cs typeface="DejaVu Sans"/>
              </a:defRPr>
            </a:lvl4pPr>
            <a:lvl5pPr>
              <a:defRPr sz="900" b="0">
                <a:solidFill>
                  <a:srgbClr val="56665F"/>
                </a:solidFill>
                <a:latin typeface="DejaVu Sans"/>
                <a:ea typeface="DejaVu Sans"/>
                <a:cs typeface="DejaVu Sans"/>
              </a:defRPr>
            </a:lvl5pPr>
            <a:lvl6pPr>
              <a:defRPr sz="900" b="0">
                <a:solidFill>
                  <a:srgbClr val="56665F"/>
                </a:solidFill>
                <a:latin typeface="DejaVu Sans"/>
                <a:ea typeface="DejaVu Sans"/>
                <a:cs typeface="DejaVu Sans"/>
              </a:defRPr>
            </a:lvl6pPr>
            <a:lvl7pPr>
              <a:defRPr sz="900" b="0">
                <a:solidFill>
                  <a:srgbClr val="56665F"/>
                </a:solidFill>
                <a:latin typeface="DejaVu Sans"/>
                <a:ea typeface="DejaVu Sans"/>
                <a:cs typeface="DejaVu Sans"/>
              </a:defRPr>
            </a:lvl7pPr>
            <a:lvl8pPr>
              <a:defRPr sz="900" b="0">
                <a:solidFill>
                  <a:srgbClr val="56665F"/>
                </a:solidFill>
                <a:latin typeface="DejaVu Sans"/>
                <a:ea typeface="DejaVu Sans"/>
                <a:cs typeface="DejaVu Sans"/>
              </a:defRPr>
            </a:lvl8pPr>
            <a:lvl9pPr>
              <a:defRPr sz="900" b="0">
                <a:solidFill>
                  <a:srgbClr val="56665F"/>
                </a:solidFill>
                <a:latin typeface="DejaVu Sans"/>
                <a:ea typeface="DejaVu Sans"/>
                <a:cs typeface="DejaVu Sans"/>
              </a:defRPr>
            </a:lvl9pPr>
          </a:lstStyle>
          <a:p xmlns:a="http://schemas.openxmlformats.org/drawingml/2006/main">
            <a:pPr>
              <a:defRPr sz="900" b="0">
                <a:solidFill>
                  <a:srgbClr val="56665F"/>
                </a:solidFill>
                <a:latin typeface="DejaVu Sans"/>
                <a:ea typeface="DejaVu Sans"/>
                <a:cs typeface="DejaVu Sans"/>
              </a:defRPr>
            </a:pPr>
            <a:r>
              <a:rPr sz="900" b="0">
                <a:solidFill>
                  <a:srgbClr val="56665F"/>
                </a:solidFill>
                <a:latin typeface="DejaVu Sans"/>
                <a:ea typeface="DejaVu Sans"/>
                <a:cs typeface="DejaVu Sans"/>
              </a:rPr>
              <a:t>MOHSIN ET AL. (2016)   /   SAINS HUMANIKA   /   HLM. 101–107</a:t>
            </a:r>
          </a:p>
        </p:txBody>
      </p:sp>
      <p:sp>
        <p:nvSpPr>
          <p:cNvPr id="4" name="">
            <a:extLst xmlns:a="http://schemas.openxmlformats.org/drawingml/2006/main">
              <a:ext uri="{FF2B5EF4-FFF2-40B4-BE49-F238E27FC236}">
                <a16:creationId xmlns:a16="http://schemas.microsoft.com/office/drawing/2014/main" id="{203F0DEF-AD4B-43A1-B90C-3D7F89B63F6D}"/>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B38B43"/>
                </a:solidFill>
                <a:latin typeface="DejaVu Sans"/>
                <a:ea typeface="DejaVu Sans"/>
                <a:cs typeface="DejaVu Sans"/>
              </a:defRPr>
            </a:defPPr>
            <a:lvl1pPr>
              <a:defRPr sz="1350" b="0">
                <a:solidFill>
                  <a:srgbClr val="B38B43"/>
                </a:solidFill>
                <a:latin typeface="DejaVu Sans"/>
                <a:ea typeface="DejaVu Sans"/>
                <a:cs typeface="DejaVu Sans"/>
              </a:defRPr>
            </a:lvl1pPr>
            <a:lvl2pPr>
              <a:defRPr sz="1350" b="0">
                <a:solidFill>
                  <a:srgbClr val="B38B43"/>
                </a:solidFill>
                <a:latin typeface="DejaVu Sans"/>
                <a:ea typeface="DejaVu Sans"/>
                <a:cs typeface="DejaVu Sans"/>
              </a:defRPr>
            </a:lvl2pPr>
            <a:lvl3pPr>
              <a:defRPr sz="1350" b="0">
                <a:solidFill>
                  <a:srgbClr val="B38B43"/>
                </a:solidFill>
                <a:latin typeface="DejaVu Sans"/>
                <a:ea typeface="DejaVu Sans"/>
                <a:cs typeface="DejaVu Sans"/>
              </a:defRPr>
            </a:lvl3pPr>
            <a:lvl4pPr>
              <a:defRPr sz="1350" b="0">
                <a:solidFill>
                  <a:srgbClr val="B38B43"/>
                </a:solidFill>
                <a:latin typeface="DejaVu Sans"/>
                <a:ea typeface="DejaVu Sans"/>
                <a:cs typeface="DejaVu Sans"/>
              </a:defRPr>
            </a:lvl4pPr>
            <a:lvl5pPr>
              <a:defRPr sz="1350" b="0">
                <a:solidFill>
                  <a:srgbClr val="B38B43"/>
                </a:solidFill>
                <a:latin typeface="DejaVu Sans"/>
                <a:ea typeface="DejaVu Sans"/>
                <a:cs typeface="DejaVu Sans"/>
              </a:defRPr>
            </a:lvl5pPr>
            <a:lvl6pPr>
              <a:defRPr sz="1350" b="0">
                <a:solidFill>
                  <a:srgbClr val="B38B43"/>
                </a:solidFill>
                <a:latin typeface="DejaVu Sans"/>
                <a:ea typeface="DejaVu Sans"/>
                <a:cs typeface="DejaVu Sans"/>
              </a:defRPr>
            </a:lvl6pPr>
            <a:lvl7pPr>
              <a:defRPr sz="1350" b="0">
                <a:solidFill>
                  <a:srgbClr val="B38B43"/>
                </a:solidFill>
                <a:latin typeface="DejaVu Sans"/>
                <a:ea typeface="DejaVu Sans"/>
                <a:cs typeface="DejaVu Sans"/>
              </a:defRPr>
            </a:lvl7pPr>
            <a:lvl8pPr>
              <a:defRPr sz="1350" b="0">
                <a:solidFill>
                  <a:srgbClr val="B38B43"/>
                </a:solidFill>
                <a:latin typeface="DejaVu Sans"/>
                <a:ea typeface="DejaVu Sans"/>
                <a:cs typeface="DejaVu Sans"/>
              </a:defRPr>
            </a:lvl8pPr>
            <a:lvl9pPr>
              <a:defRPr sz="1350" b="0">
                <a:solidFill>
                  <a:srgbClr val="B38B43"/>
                </a:solidFill>
                <a:latin typeface="DejaVu Sans"/>
                <a:ea typeface="DejaVu Sans"/>
                <a:cs typeface="DejaVu Sans"/>
              </a:defRPr>
            </a:lvl9pPr>
          </a:lstStyle>
          <a:p xmlns:a="http://schemas.openxmlformats.org/drawingml/2006/main">
            <a:pPr>
              <a:defRPr sz="1350" b="0">
                <a:solidFill>
                  <a:srgbClr val="B38B43"/>
                </a:solidFill>
                <a:latin typeface="DejaVu Sans"/>
                <a:ea typeface="DejaVu Sans"/>
                <a:cs typeface="DejaVu Sans"/>
              </a:defRPr>
            </a:pPr>
            <a:r>
              <a:rPr sz="1350" b="0">
                <a:solidFill>
                  <a:srgbClr val="B38B43"/>
                </a:solidFill>
                <a:latin typeface="DejaVu Sans"/>
                <a:ea typeface="DejaVu Sans"/>
                <a:cs typeface="DejaVu Sans"/>
              </a:rPr>
              <a:t>34</a:t>
            </a:r>
          </a:p>
        </p:txBody>
      </p:sp>
      <p:sp>
        <p:nvSpPr>
          <p:cNvPr id="5" name="">
            <a:extLst xmlns:a="http://schemas.openxmlformats.org/drawingml/2006/main">
              <a:ext uri="{FF2B5EF4-FFF2-40B4-BE49-F238E27FC236}">
                <a16:creationId xmlns:a16="http://schemas.microsoft.com/office/drawing/2014/main" id="{8E5E19D0-0C11-424B-9D97-9F1E80C1E749}"/>
              </a:ext>
            </a:extLst>
          </p:cNvPr>
          <p:cNvSpPr>
            <a:spLocks xmlns:a="http://schemas.openxmlformats.org/drawingml/2006/main" noGrp="1"/>
          </p:cNvSpPr>
          <p:nvPr/>
        </p:nvSpPr>
        <p:spPr>
          <a:xfrm xmlns:a="http://schemas.openxmlformats.org/drawingml/2006/main">
            <a:off x="647700" y="2238375"/>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3F37"/>
                </a:solidFill>
                <a:latin typeface="DejaVu Sans"/>
                <a:ea typeface="DejaVu Sans"/>
                <a:cs typeface="DejaVu Sans"/>
              </a:defRPr>
            </a:defPPr>
            <a:lvl1pPr>
              <a:defRPr sz="2025" b="0">
                <a:solidFill>
                  <a:srgbClr val="173F37"/>
                </a:solidFill>
                <a:latin typeface="DejaVu Sans"/>
                <a:ea typeface="DejaVu Sans"/>
                <a:cs typeface="DejaVu Sans"/>
              </a:defRPr>
            </a:lvl1pPr>
            <a:lvl2pPr>
              <a:defRPr sz="2025" b="0">
                <a:solidFill>
                  <a:srgbClr val="173F37"/>
                </a:solidFill>
                <a:latin typeface="DejaVu Sans"/>
                <a:ea typeface="DejaVu Sans"/>
                <a:cs typeface="DejaVu Sans"/>
              </a:defRPr>
            </a:lvl2pPr>
            <a:lvl3pPr>
              <a:defRPr sz="2025" b="0">
                <a:solidFill>
                  <a:srgbClr val="173F37"/>
                </a:solidFill>
                <a:latin typeface="DejaVu Sans"/>
                <a:ea typeface="DejaVu Sans"/>
                <a:cs typeface="DejaVu Sans"/>
              </a:defRPr>
            </a:lvl3pPr>
            <a:lvl4pPr>
              <a:defRPr sz="2025" b="0">
                <a:solidFill>
                  <a:srgbClr val="173F37"/>
                </a:solidFill>
                <a:latin typeface="DejaVu Sans"/>
                <a:ea typeface="DejaVu Sans"/>
                <a:cs typeface="DejaVu Sans"/>
              </a:defRPr>
            </a:lvl4pPr>
            <a:lvl5pPr>
              <a:defRPr sz="2025" b="0">
                <a:solidFill>
                  <a:srgbClr val="173F37"/>
                </a:solidFill>
                <a:latin typeface="DejaVu Sans"/>
                <a:ea typeface="DejaVu Sans"/>
                <a:cs typeface="DejaVu Sans"/>
              </a:defRPr>
            </a:lvl5pPr>
            <a:lvl6pPr>
              <a:defRPr sz="2025" b="0">
                <a:solidFill>
                  <a:srgbClr val="173F37"/>
                </a:solidFill>
                <a:latin typeface="DejaVu Sans"/>
                <a:ea typeface="DejaVu Sans"/>
                <a:cs typeface="DejaVu Sans"/>
              </a:defRPr>
            </a:lvl6pPr>
            <a:lvl7pPr>
              <a:defRPr sz="2025" b="0">
                <a:solidFill>
                  <a:srgbClr val="173F37"/>
                </a:solidFill>
                <a:latin typeface="DejaVu Sans"/>
                <a:ea typeface="DejaVu Sans"/>
                <a:cs typeface="DejaVu Sans"/>
              </a:defRPr>
            </a:lvl7pPr>
            <a:lvl8pPr>
              <a:defRPr sz="2025" b="0">
                <a:solidFill>
                  <a:srgbClr val="173F37"/>
                </a:solidFill>
                <a:latin typeface="DejaVu Sans"/>
                <a:ea typeface="DejaVu Sans"/>
                <a:cs typeface="DejaVu Sans"/>
              </a:defRPr>
            </a:lvl8pPr>
            <a:lvl9pPr>
              <a:defRPr sz="2025" b="0">
                <a:solidFill>
                  <a:srgbClr val="173F37"/>
                </a:solidFill>
                <a:latin typeface="DejaVu Sans"/>
                <a:ea typeface="DejaVu Sans"/>
                <a:cs typeface="DejaVu Sans"/>
              </a:defRPr>
            </a:lvl9pPr>
          </a:lstStyle>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Mohsin, M. A., Md Baharudin, M. H. A., Abdullah, N.,</a:t>
            </a:r>
          </a:p>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Md. Sawari, S. S., Napiah, O., Mohd. Noor, S. S.,</a:t>
            </a:r>
          </a:p>
          <a:p xmlns:a="http://schemas.openxmlformats.org/drawingml/2006/main">
            <a:pPr>
              <a:defRPr sz="2025" b="0">
                <a:solidFill>
                  <a:srgbClr val="173F37"/>
                </a:solidFill>
                <a:latin typeface="DejaVu Sans"/>
                <a:ea typeface="DejaVu Sans"/>
                <a:cs typeface="DejaVu Sans"/>
              </a:defRPr>
            </a:pPr>
            <a:r>
              <a:rPr sz="2025" b="0">
                <a:solidFill>
                  <a:srgbClr val="173F37"/>
                </a:solidFill>
                <a:latin typeface="DejaVu Sans"/>
                <a:ea typeface="DejaVu Sans"/>
                <a:cs typeface="DejaVu Sans"/>
              </a:rPr>
              <a:t>&amp; Jasmi, K. A. (2016).</a:t>
            </a:r>
          </a:p>
        </p:txBody>
      </p:sp>
      <p:sp>
        <p:nvSpPr>
          <p:cNvPr id="6" name="">
            <a:extLst xmlns:a="http://schemas.openxmlformats.org/drawingml/2006/main">
              <a:ext uri="{FF2B5EF4-FFF2-40B4-BE49-F238E27FC236}">
                <a16:creationId xmlns:a16="http://schemas.microsoft.com/office/drawing/2014/main" id="{587A8739-7AD2-49C9-94E2-19A10E7C305C}"/>
              </a:ext>
            </a:extLst>
          </p:cNvPr>
          <p:cNvSpPr>
            <a:spLocks xmlns:a="http://schemas.openxmlformats.org/drawingml/2006/main" noGrp="1"/>
          </p:cNvSpPr>
          <p:nvPr/>
        </p:nvSpPr>
        <p:spPr>
          <a:xfrm xmlns:a="http://schemas.openxmlformats.org/drawingml/2006/main">
            <a:off x="647700" y="364807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73F37"/>
                </a:solidFill>
                <a:latin typeface="DejaVu Sans"/>
                <a:ea typeface="DejaVu Sans"/>
                <a:cs typeface="DejaVu Sans"/>
              </a:defRPr>
            </a:defPPr>
            <a:lvl1pPr>
              <a:defRPr sz="2250" b="1">
                <a:solidFill>
                  <a:srgbClr val="173F37"/>
                </a:solidFill>
                <a:latin typeface="DejaVu Sans"/>
                <a:ea typeface="DejaVu Sans"/>
                <a:cs typeface="DejaVu Sans"/>
              </a:defRPr>
            </a:lvl1pPr>
            <a:lvl2pPr>
              <a:defRPr sz="2250" b="1">
                <a:solidFill>
                  <a:srgbClr val="173F37"/>
                </a:solidFill>
                <a:latin typeface="DejaVu Sans"/>
                <a:ea typeface="DejaVu Sans"/>
                <a:cs typeface="DejaVu Sans"/>
              </a:defRPr>
            </a:lvl2pPr>
            <a:lvl3pPr>
              <a:defRPr sz="2250" b="1">
                <a:solidFill>
                  <a:srgbClr val="173F37"/>
                </a:solidFill>
                <a:latin typeface="DejaVu Sans"/>
                <a:ea typeface="DejaVu Sans"/>
                <a:cs typeface="DejaVu Sans"/>
              </a:defRPr>
            </a:lvl3pPr>
            <a:lvl4pPr>
              <a:defRPr sz="2250" b="1">
                <a:solidFill>
                  <a:srgbClr val="173F37"/>
                </a:solidFill>
                <a:latin typeface="DejaVu Sans"/>
                <a:ea typeface="DejaVu Sans"/>
                <a:cs typeface="DejaVu Sans"/>
              </a:defRPr>
            </a:lvl4pPr>
            <a:lvl5pPr>
              <a:defRPr sz="2250" b="1">
                <a:solidFill>
                  <a:srgbClr val="173F37"/>
                </a:solidFill>
                <a:latin typeface="DejaVu Sans"/>
                <a:ea typeface="DejaVu Sans"/>
                <a:cs typeface="DejaVu Sans"/>
              </a:defRPr>
            </a:lvl5pPr>
            <a:lvl6pPr>
              <a:defRPr sz="2250" b="1">
                <a:solidFill>
                  <a:srgbClr val="173F37"/>
                </a:solidFill>
                <a:latin typeface="DejaVu Sans"/>
                <a:ea typeface="DejaVu Sans"/>
                <a:cs typeface="DejaVu Sans"/>
              </a:defRPr>
            </a:lvl6pPr>
            <a:lvl7pPr>
              <a:defRPr sz="2250" b="1">
                <a:solidFill>
                  <a:srgbClr val="173F37"/>
                </a:solidFill>
                <a:latin typeface="DejaVu Sans"/>
                <a:ea typeface="DejaVu Sans"/>
                <a:cs typeface="DejaVu Sans"/>
              </a:defRPr>
            </a:lvl7pPr>
            <a:lvl8pPr>
              <a:defRPr sz="2250" b="1">
                <a:solidFill>
                  <a:srgbClr val="173F37"/>
                </a:solidFill>
                <a:latin typeface="DejaVu Sans"/>
                <a:ea typeface="DejaVu Sans"/>
                <a:cs typeface="DejaVu Sans"/>
              </a:defRPr>
            </a:lvl8pPr>
            <a:lvl9pPr>
              <a:defRPr sz="2250" b="1">
                <a:solidFill>
                  <a:srgbClr val="173F37"/>
                </a:solidFill>
                <a:latin typeface="DejaVu Sans"/>
                <a:ea typeface="DejaVu Sans"/>
                <a:cs typeface="DejaVu Sans"/>
              </a:defRPr>
            </a:lvl9pPr>
          </a:lstStyle>
          <a:p xmlns:a="http://schemas.openxmlformats.org/drawingml/2006/main">
            <a:pPr>
              <a:defRPr sz="2250" b="1">
                <a:solidFill>
                  <a:srgbClr val="173F37"/>
                </a:solidFill>
                <a:latin typeface="DejaVu Sans"/>
                <a:ea typeface="DejaVu Sans"/>
                <a:cs typeface="DejaVu Sans"/>
              </a:defRPr>
            </a:pPr>
            <a:r>
              <a:rPr sz="2250" b="1">
                <a:solidFill>
                  <a:srgbClr val="173F37"/>
                </a:solidFill>
                <a:latin typeface="DejaVu Sans"/>
                <a:ea typeface="DejaVu Sans"/>
                <a:cs typeface="DejaVu Sans"/>
              </a:rPr>
              <a:t>Ratib al-Attas Menurut Perspektif al-Quran dan Hadis.</a:t>
            </a:r>
          </a:p>
          <a:p xmlns:a="http://schemas.openxmlformats.org/drawingml/2006/main">
            <a:pPr>
              <a:defRPr sz="2250" b="1">
                <a:solidFill>
                  <a:srgbClr val="173F37"/>
                </a:solidFill>
                <a:latin typeface="DejaVu Sans"/>
                <a:ea typeface="DejaVu Sans"/>
                <a:cs typeface="DejaVu Sans"/>
              </a:defRPr>
            </a:pPr>
            <a:r>
              <a:rPr sz="2250" b="1">
                <a:solidFill>
                  <a:srgbClr val="173F37"/>
                </a:solidFill>
                <a:latin typeface="DejaVu Sans"/>
                <a:ea typeface="DejaVu Sans"/>
                <a:cs typeface="DejaVu Sans"/>
              </a:rPr>
              <a:t>Sains Humanika, 8(3–2), 101–107.</a:t>
            </a:r>
          </a:p>
        </p:txBody>
      </p:sp>
      <p:sp>
        <p:nvSpPr>
          <p:cNvPr id="7" name="">
            <a:extLst xmlns:a="http://schemas.openxmlformats.org/drawingml/2006/main">
              <a:ext uri="{FF2B5EF4-FFF2-40B4-BE49-F238E27FC236}">
                <a16:creationId xmlns:a16="http://schemas.microsoft.com/office/drawing/2014/main" id="{15C6AB93-FF96-4092-9E01-E22FFA9CF5A0}"/>
              </a:ext>
            </a:extLst>
          </p:cNvPr>
          <p:cNvSpPr>
            <a:spLocks xmlns:a="http://schemas.openxmlformats.org/drawingml/2006/main" noGrp="1"/>
          </p:cNvSpPr>
          <p:nvPr/>
        </p:nvSpPr>
        <p:spPr>
          <a:xfrm xmlns:a="http://schemas.openxmlformats.org/drawingml/2006/main">
            <a:off x="647700" y="5143500"/>
            <a:ext cx="1085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56665F"/>
                </a:solidFill>
                <a:latin typeface="DejaVu Sans"/>
                <a:ea typeface="DejaVu Sans"/>
                <a:cs typeface="DejaVu Sans"/>
              </a:defRPr>
            </a:defPPr>
            <a:lvl1pPr>
              <a:defRPr sz="1650" b="0">
                <a:solidFill>
                  <a:srgbClr val="56665F"/>
                </a:solidFill>
                <a:latin typeface="DejaVu Sans"/>
                <a:ea typeface="DejaVu Sans"/>
                <a:cs typeface="DejaVu Sans"/>
              </a:defRPr>
            </a:lvl1pPr>
            <a:lvl2pPr>
              <a:defRPr sz="1650" b="0">
                <a:solidFill>
                  <a:srgbClr val="56665F"/>
                </a:solidFill>
                <a:latin typeface="DejaVu Sans"/>
                <a:ea typeface="DejaVu Sans"/>
                <a:cs typeface="DejaVu Sans"/>
              </a:defRPr>
            </a:lvl2pPr>
            <a:lvl3pPr>
              <a:defRPr sz="1650" b="0">
                <a:solidFill>
                  <a:srgbClr val="56665F"/>
                </a:solidFill>
                <a:latin typeface="DejaVu Sans"/>
                <a:ea typeface="DejaVu Sans"/>
                <a:cs typeface="DejaVu Sans"/>
              </a:defRPr>
            </a:lvl3pPr>
            <a:lvl4pPr>
              <a:defRPr sz="1650" b="0">
                <a:solidFill>
                  <a:srgbClr val="56665F"/>
                </a:solidFill>
                <a:latin typeface="DejaVu Sans"/>
                <a:ea typeface="DejaVu Sans"/>
                <a:cs typeface="DejaVu Sans"/>
              </a:defRPr>
            </a:lvl4pPr>
            <a:lvl5pPr>
              <a:defRPr sz="1650" b="0">
                <a:solidFill>
                  <a:srgbClr val="56665F"/>
                </a:solidFill>
                <a:latin typeface="DejaVu Sans"/>
                <a:ea typeface="DejaVu Sans"/>
                <a:cs typeface="DejaVu Sans"/>
              </a:defRPr>
            </a:lvl5pPr>
            <a:lvl6pPr>
              <a:defRPr sz="1650" b="0">
                <a:solidFill>
                  <a:srgbClr val="56665F"/>
                </a:solidFill>
                <a:latin typeface="DejaVu Sans"/>
                <a:ea typeface="DejaVu Sans"/>
                <a:cs typeface="DejaVu Sans"/>
              </a:defRPr>
            </a:lvl6pPr>
            <a:lvl7pPr>
              <a:defRPr sz="1650" b="0">
                <a:solidFill>
                  <a:srgbClr val="56665F"/>
                </a:solidFill>
                <a:latin typeface="DejaVu Sans"/>
                <a:ea typeface="DejaVu Sans"/>
                <a:cs typeface="DejaVu Sans"/>
              </a:defRPr>
            </a:lvl7pPr>
            <a:lvl8pPr>
              <a:defRPr sz="1650" b="0">
                <a:solidFill>
                  <a:srgbClr val="56665F"/>
                </a:solidFill>
                <a:latin typeface="DejaVu Sans"/>
                <a:ea typeface="DejaVu Sans"/>
                <a:cs typeface="DejaVu Sans"/>
              </a:defRPr>
            </a:lvl8pPr>
            <a:lvl9pPr>
              <a:defRPr sz="1650" b="0">
                <a:solidFill>
                  <a:srgbClr val="56665F"/>
                </a:solidFill>
                <a:latin typeface="DejaVu Sans"/>
                <a:ea typeface="DejaVu Sans"/>
                <a:cs typeface="DejaVu Sans"/>
              </a:defRPr>
            </a:lvl9pPr>
          </a:lstStyle>
          <a:p xmlns:a="http://schemas.openxmlformats.org/drawingml/2006/main">
            <a:pPr>
              <a:defRPr sz="1650" b="0">
                <a:solidFill>
                  <a:srgbClr val="56665F"/>
                </a:solidFill>
                <a:latin typeface="DejaVu Sans"/>
                <a:ea typeface="DejaVu Sans"/>
                <a:cs typeface="DejaVu Sans"/>
              </a:defRPr>
            </a:pPr>
            <a:r>
              <a:rPr sz="1650" b="0">
                <a:solidFill>
                  <a:srgbClr val="56665F"/>
                </a:solidFill>
                <a:latin typeface="DejaVu Sans"/>
                <a:ea typeface="DejaVu Sans"/>
                <a:cs typeface="DejaVu Sans"/>
              </a:rPr>
              <a:t>DOI: 10.11113/sh.v8n3-2.970</a:t>
            </a:r>
          </a:p>
          <a:p xmlns:a="http://schemas.openxmlformats.org/drawingml/2006/main">
            <a:pPr>
              <a:defRPr sz="1650" b="0">
                <a:solidFill>
                  <a:srgbClr val="56665F"/>
                </a:solidFill>
                <a:latin typeface="DejaVu Sans"/>
                <a:ea typeface="DejaVu Sans"/>
                <a:cs typeface="DejaVu Sans"/>
              </a:defRPr>
            </a:pPr>
            <a:r>
              <a:rPr sz="1650" b="0">
                <a:solidFill>
                  <a:srgbClr val="56665F"/>
                </a:solidFill>
                <a:latin typeface="DejaVu Sans"/>
                <a:ea typeface="DejaVu Sans"/>
                <a:cs typeface="DejaVu Sans"/>
              </a:rPr>
              <a:t>Petikan asal, parafrasa dan rujukan tambahan dibezakan dalam nota slaid.</a:t>
            </a:r>
          </a:p>
        </p:txBody>
      </p:sp>
    </p:spTree>
    <p:extLst>
      <p:ext uri="{BB962C8B-B14F-4D97-AF65-F5344CB8AC3E}">
        <p14:creationId xmlns:p14="http://schemas.microsoft.com/office/powerpoint/2010/main" val="1665702681"/>
      </p:ext>
    </p:extLst>
  </p:cSld>
</p:sld>
</file>

<file path=ppt/slides/slide35.xml><?xml version="1.0" encoding="utf-8"?>
<p:sld xmlns:p="http://schemas.openxmlformats.org/presentationml/2006/main">
  <p:cSld>
    <p:bg>
      <p:bgPr>
        <a:solidFill xmlns:a="http://schemas.openxmlformats.org/drawingml/2006/main">
          <a:srgbClr val="103D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52F501-BB1A-4039-99D5-48C067067639}"/>
              </a:ext>
            </a:extLst>
          </p:cNvPr>
          <p:cNvSpPr>
            <a:spLocks xmlns:a="http://schemas.openxmlformats.org/drawingml/2006/main" noGrp="1"/>
          </p:cNvSpPr>
          <p:nvPr/>
        </p:nvSpPr>
        <p:spPr>
          <a:xfrm xmlns:a="http://schemas.openxmlformats.org/drawingml/2006/main">
            <a:off x="647700" y="3810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DCC697"/>
                </a:solidFill>
                <a:latin typeface="DejaVu Sans"/>
                <a:ea typeface="DejaVu Sans"/>
                <a:cs typeface="DejaVu Sans"/>
              </a:defRPr>
            </a:defPPr>
            <a:lvl1pPr>
              <a:defRPr sz="1125" b="1">
                <a:solidFill>
                  <a:srgbClr val="DCC697"/>
                </a:solidFill>
                <a:latin typeface="DejaVu Sans"/>
                <a:ea typeface="DejaVu Sans"/>
                <a:cs typeface="DejaVu Sans"/>
              </a:defRPr>
            </a:lvl1pPr>
            <a:lvl2pPr>
              <a:defRPr sz="1125" b="1">
                <a:solidFill>
                  <a:srgbClr val="DCC697"/>
                </a:solidFill>
                <a:latin typeface="DejaVu Sans"/>
                <a:ea typeface="DejaVu Sans"/>
                <a:cs typeface="DejaVu Sans"/>
              </a:defRPr>
            </a:lvl2pPr>
            <a:lvl3pPr>
              <a:defRPr sz="1125" b="1">
                <a:solidFill>
                  <a:srgbClr val="DCC697"/>
                </a:solidFill>
                <a:latin typeface="DejaVu Sans"/>
                <a:ea typeface="DejaVu Sans"/>
                <a:cs typeface="DejaVu Sans"/>
              </a:defRPr>
            </a:lvl3pPr>
            <a:lvl4pPr>
              <a:defRPr sz="1125" b="1">
                <a:solidFill>
                  <a:srgbClr val="DCC697"/>
                </a:solidFill>
                <a:latin typeface="DejaVu Sans"/>
                <a:ea typeface="DejaVu Sans"/>
                <a:cs typeface="DejaVu Sans"/>
              </a:defRPr>
            </a:lvl4pPr>
            <a:lvl5pPr>
              <a:defRPr sz="1125" b="1">
                <a:solidFill>
                  <a:srgbClr val="DCC697"/>
                </a:solidFill>
                <a:latin typeface="DejaVu Sans"/>
                <a:ea typeface="DejaVu Sans"/>
                <a:cs typeface="DejaVu Sans"/>
              </a:defRPr>
            </a:lvl5pPr>
            <a:lvl6pPr>
              <a:defRPr sz="1125" b="1">
                <a:solidFill>
                  <a:srgbClr val="DCC697"/>
                </a:solidFill>
                <a:latin typeface="DejaVu Sans"/>
                <a:ea typeface="DejaVu Sans"/>
                <a:cs typeface="DejaVu Sans"/>
              </a:defRPr>
            </a:lvl6pPr>
            <a:lvl7pPr>
              <a:defRPr sz="1125" b="1">
                <a:solidFill>
                  <a:srgbClr val="DCC697"/>
                </a:solidFill>
                <a:latin typeface="DejaVu Sans"/>
                <a:ea typeface="DejaVu Sans"/>
                <a:cs typeface="DejaVu Sans"/>
              </a:defRPr>
            </a:lvl7pPr>
            <a:lvl8pPr>
              <a:defRPr sz="1125" b="1">
                <a:solidFill>
                  <a:srgbClr val="DCC697"/>
                </a:solidFill>
                <a:latin typeface="DejaVu Sans"/>
                <a:ea typeface="DejaVu Sans"/>
                <a:cs typeface="DejaVu Sans"/>
              </a:defRPr>
            </a:lvl8pPr>
            <a:lvl9pPr>
              <a:defRPr sz="1125" b="1">
                <a:solidFill>
                  <a:srgbClr val="DCC697"/>
                </a:solidFill>
                <a:latin typeface="DejaVu Sans"/>
                <a:ea typeface="DejaVu Sans"/>
                <a:cs typeface="DejaVu Sans"/>
              </a:defRPr>
            </a:lvl9pPr>
          </a:lstStyle>
          <a:p xmlns:a="http://schemas.openxmlformats.org/drawingml/2006/main">
            <a:pPr>
              <a:defRPr sz="1125" b="1">
                <a:solidFill>
                  <a:srgbClr val="DCC697"/>
                </a:solidFill>
                <a:latin typeface="DejaVu Sans"/>
                <a:ea typeface="DejaVu Sans"/>
                <a:cs typeface="DejaVu Sans"/>
              </a:defRPr>
            </a:pPr>
            <a:r>
              <a:rPr sz="1125" b="1">
                <a:solidFill>
                  <a:srgbClr val="DCC697"/>
                </a:solidFill>
                <a:latin typeface="DejaVu Sans"/>
                <a:ea typeface="DejaVu Sans"/>
                <a:cs typeface="DejaVu Sans"/>
              </a:rPr>
              <a:t>PENUTUP</a:t>
            </a:r>
          </a:p>
        </p:txBody>
      </p:sp>
      <p:sp>
        <p:nvSpPr>
          <p:cNvPr id="2" name="">
            <a:extLst xmlns:a="http://schemas.openxmlformats.org/drawingml/2006/main">
              <a:ext uri="{FF2B5EF4-FFF2-40B4-BE49-F238E27FC236}">
                <a16:creationId xmlns:a16="http://schemas.microsoft.com/office/drawing/2014/main" id="{86DFCA0E-32E0-42D7-BDDC-AE7B180EE886}"/>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FFFFFF"/>
                </a:solidFill>
                <a:latin typeface="DejaVu Sans"/>
                <a:ea typeface="DejaVu Sans"/>
                <a:cs typeface="DejaVu Sans"/>
              </a:defRPr>
            </a:defPPr>
            <a:lvl1pPr>
              <a:defRPr sz="3300" b="1">
                <a:solidFill>
                  <a:srgbClr val="FFFFFF"/>
                </a:solidFill>
                <a:latin typeface="DejaVu Sans"/>
                <a:ea typeface="DejaVu Sans"/>
                <a:cs typeface="DejaVu Sans"/>
              </a:defRPr>
            </a:lvl1pPr>
            <a:lvl2pPr>
              <a:defRPr sz="3300" b="1">
                <a:solidFill>
                  <a:srgbClr val="FFFFFF"/>
                </a:solidFill>
                <a:latin typeface="DejaVu Sans"/>
                <a:ea typeface="DejaVu Sans"/>
                <a:cs typeface="DejaVu Sans"/>
              </a:defRPr>
            </a:lvl2pPr>
            <a:lvl3pPr>
              <a:defRPr sz="3300" b="1">
                <a:solidFill>
                  <a:srgbClr val="FFFFFF"/>
                </a:solidFill>
                <a:latin typeface="DejaVu Sans"/>
                <a:ea typeface="DejaVu Sans"/>
                <a:cs typeface="DejaVu Sans"/>
              </a:defRPr>
            </a:lvl3pPr>
            <a:lvl4pPr>
              <a:defRPr sz="3300" b="1">
                <a:solidFill>
                  <a:srgbClr val="FFFFFF"/>
                </a:solidFill>
                <a:latin typeface="DejaVu Sans"/>
                <a:ea typeface="DejaVu Sans"/>
                <a:cs typeface="DejaVu Sans"/>
              </a:defRPr>
            </a:lvl4pPr>
            <a:lvl5pPr>
              <a:defRPr sz="3300" b="1">
                <a:solidFill>
                  <a:srgbClr val="FFFFFF"/>
                </a:solidFill>
                <a:latin typeface="DejaVu Sans"/>
                <a:ea typeface="DejaVu Sans"/>
                <a:cs typeface="DejaVu Sans"/>
              </a:defRPr>
            </a:lvl5pPr>
            <a:lvl6pPr>
              <a:defRPr sz="3300" b="1">
                <a:solidFill>
                  <a:srgbClr val="FFFFFF"/>
                </a:solidFill>
                <a:latin typeface="DejaVu Sans"/>
                <a:ea typeface="DejaVu Sans"/>
                <a:cs typeface="DejaVu Sans"/>
              </a:defRPr>
            </a:lvl6pPr>
            <a:lvl7pPr>
              <a:defRPr sz="3300" b="1">
                <a:solidFill>
                  <a:srgbClr val="FFFFFF"/>
                </a:solidFill>
                <a:latin typeface="DejaVu Sans"/>
                <a:ea typeface="DejaVu Sans"/>
                <a:cs typeface="DejaVu Sans"/>
              </a:defRPr>
            </a:lvl7pPr>
            <a:lvl8pPr>
              <a:defRPr sz="3300" b="1">
                <a:solidFill>
                  <a:srgbClr val="FFFFFF"/>
                </a:solidFill>
                <a:latin typeface="DejaVu Sans"/>
                <a:ea typeface="DejaVu Sans"/>
                <a:cs typeface="DejaVu Sans"/>
              </a:defRPr>
            </a:lvl8pPr>
            <a:lvl9pPr>
              <a:defRPr sz="3300" b="1">
                <a:solidFill>
                  <a:srgbClr val="FFFFFF"/>
                </a:solidFill>
                <a:latin typeface="DejaVu Sans"/>
                <a:ea typeface="DejaVu Sans"/>
                <a:cs typeface="DejaVu Sans"/>
              </a:defRPr>
            </a:lvl9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Perbincangan</a:t>
            </a:r>
          </a:p>
        </p:txBody>
      </p:sp>
      <p:sp>
        <p:nvSpPr>
          <p:cNvPr id="3" name="">
            <a:extLst xmlns:a="http://schemas.openxmlformats.org/drawingml/2006/main">
              <a:ext uri="{FF2B5EF4-FFF2-40B4-BE49-F238E27FC236}">
                <a16:creationId xmlns:a16="http://schemas.microsoft.com/office/drawing/2014/main" id="{92338DAA-362D-422D-ACEA-4AC4BE3F5ABC}"/>
              </a:ext>
            </a:extLst>
          </p:cNvPr>
          <p:cNvSpPr>
            <a:spLocks xmlns:a="http://schemas.openxmlformats.org/drawingml/2006/main" noGrp="1"/>
          </p:cNvSpPr>
          <p:nvPr/>
        </p:nvSpPr>
        <p:spPr>
          <a:xfrm xmlns:a="http://schemas.openxmlformats.org/drawingml/2006/main">
            <a:off x="647700" y="64008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D4DED7"/>
                </a:solidFill>
                <a:latin typeface="DejaVu Sans"/>
                <a:ea typeface="DejaVu Sans"/>
                <a:cs typeface="DejaVu Sans"/>
              </a:defRPr>
            </a:defPPr>
            <a:lvl1pPr>
              <a:defRPr sz="900" b="0">
                <a:solidFill>
                  <a:srgbClr val="D4DED7"/>
                </a:solidFill>
                <a:latin typeface="DejaVu Sans"/>
                <a:ea typeface="DejaVu Sans"/>
                <a:cs typeface="DejaVu Sans"/>
              </a:defRPr>
            </a:lvl1pPr>
            <a:lvl2pPr>
              <a:defRPr sz="900" b="0">
                <a:solidFill>
                  <a:srgbClr val="D4DED7"/>
                </a:solidFill>
                <a:latin typeface="DejaVu Sans"/>
                <a:ea typeface="DejaVu Sans"/>
                <a:cs typeface="DejaVu Sans"/>
              </a:defRPr>
            </a:lvl2pPr>
            <a:lvl3pPr>
              <a:defRPr sz="900" b="0">
                <a:solidFill>
                  <a:srgbClr val="D4DED7"/>
                </a:solidFill>
                <a:latin typeface="DejaVu Sans"/>
                <a:ea typeface="DejaVu Sans"/>
                <a:cs typeface="DejaVu Sans"/>
              </a:defRPr>
            </a:lvl3pPr>
            <a:lvl4pPr>
              <a:defRPr sz="900" b="0">
                <a:solidFill>
                  <a:srgbClr val="D4DED7"/>
                </a:solidFill>
                <a:latin typeface="DejaVu Sans"/>
                <a:ea typeface="DejaVu Sans"/>
                <a:cs typeface="DejaVu Sans"/>
              </a:defRPr>
            </a:lvl4pPr>
            <a:lvl5pPr>
              <a:defRPr sz="900" b="0">
                <a:solidFill>
                  <a:srgbClr val="D4DED7"/>
                </a:solidFill>
                <a:latin typeface="DejaVu Sans"/>
                <a:ea typeface="DejaVu Sans"/>
                <a:cs typeface="DejaVu Sans"/>
              </a:defRPr>
            </a:lvl5pPr>
            <a:lvl6pPr>
              <a:defRPr sz="900" b="0">
                <a:solidFill>
                  <a:srgbClr val="D4DED7"/>
                </a:solidFill>
                <a:latin typeface="DejaVu Sans"/>
                <a:ea typeface="DejaVu Sans"/>
                <a:cs typeface="DejaVu Sans"/>
              </a:defRPr>
            </a:lvl6pPr>
            <a:lvl7pPr>
              <a:defRPr sz="900" b="0">
                <a:solidFill>
                  <a:srgbClr val="D4DED7"/>
                </a:solidFill>
                <a:latin typeface="DejaVu Sans"/>
                <a:ea typeface="DejaVu Sans"/>
                <a:cs typeface="DejaVu Sans"/>
              </a:defRPr>
            </a:lvl7pPr>
            <a:lvl8pPr>
              <a:defRPr sz="900" b="0">
                <a:solidFill>
                  <a:srgbClr val="D4DED7"/>
                </a:solidFill>
                <a:latin typeface="DejaVu Sans"/>
                <a:ea typeface="DejaVu Sans"/>
                <a:cs typeface="DejaVu Sans"/>
              </a:defRPr>
            </a:lvl8pPr>
            <a:lvl9pPr>
              <a:defRPr sz="900" b="0">
                <a:solidFill>
                  <a:srgbClr val="D4DED7"/>
                </a:solidFill>
                <a:latin typeface="DejaVu Sans"/>
                <a:ea typeface="DejaVu Sans"/>
                <a:cs typeface="DejaVu Sans"/>
              </a:defRPr>
            </a:lvl9pPr>
          </a:lstStyle>
          <a:p xmlns:a="http://schemas.openxmlformats.org/drawingml/2006/main">
            <a:pPr>
              <a:defRPr sz="900" b="0">
                <a:solidFill>
                  <a:srgbClr val="D4DED7"/>
                </a:solidFill>
                <a:latin typeface="DejaVu Sans"/>
                <a:ea typeface="DejaVu Sans"/>
                <a:cs typeface="DejaVu Sans"/>
              </a:defRPr>
            </a:pPr>
            <a:r>
              <a:rPr sz="900" b="0">
                <a:solidFill>
                  <a:srgbClr val="D4DED7"/>
                </a:solidFill>
                <a:latin typeface="DejaVu Sans"/>
                <a:ea typeface="DejaVu Sans"/>
                <a:cs typeface="DejaVu Sans"/>
              </a:rPr>
              <a:t>MOHSIN ET AL. (2016)   /   SAINS HUMANIKA   /   HLM. 101–107</a:t>
            </a:r>
          </a:p>
        </p:txBody>
      </p:sp>
      <p:sp>
        <p:nvSpPr>
          <p:cNvPr id="4" name="">
            <a:extLst xmlns:a="http://schemas.openxmlformats.org/drawingml/2006/main">
              <a:ext uri="{FF2B5EF4-FFF2-40B4-BE49-F238E27FC236}">
                <a16:creationId xmlns:a16="http://schemas.microsoft.com/office/drawing/2014/main" id="{EF772464-0BB1-47A7-B3EC-CF30D421146D}"/>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DCC697"/>
                </a:solidFill>
                <a:latin typeface="DejaVu Sans"/>
                <a:ea typeface="DejaVu Sans"/>
                <a:cs typeface="DejaVu Sans"/>
              </a:defRPr>
            </a:defPPr>
            <a:lvl1pPr>
              <a:defRPr sz="1350" b="0">
                <a:solidFill>
                  <a:srgbClr val="DCC697"/>
                </a:solidFill>
                <a:latin typeface="DejaVu Sans"/>
                <a:ea typeface="DejaVu Sans"/>
                <a:cs typeface="DejaVu Sans"/>
              </a:defRPr>
            </a:lvl1pPr>
            <a:lvl2pPr>
              <a:defRPr sz="1350" b="0">
                <a:solidFill>
                  <a:srgbClr val="DCC697"/>
                </a:solidFill>
                <a:latin typeface="DejaVu Sans"/>
                <a:ea typeface="DejaVu Sans"/>
                <a:cs typeface="DejaVu Sans"/>
              </a:defRPr>
            </a:lvl2pPr>
            <a:lvl3pPr>
              <a:defRPr sz="1350" b="0">
                <a:solidFill>
                  <a:srgbClr val="DCC697"/>
                </a:solidFill>
                <a:latin typeface="DejaVu Sans"/>
                <a:ea typeface="DejaVu Sans"/>
                <a:cs typeface="DejaVu Sans"/>
              </a:defRPr>
            </a:lvl3pPr>
            <a:lvl4pPr>
              <a:defRPr sz="1350" b="0">
                <a:solidFill>
                  <a:srgbClr val="DCC697"/>
                </a:solidFill>
                <a:latin typeface="DejaVu Sans"/>
                <a:ea typeface="DejaVu Sans"/>
                <a:cs typeface="DejaVu Sans"/>
              </a:defRPr>
            </a:lvl4pPr>
            <a:lvl5pPr>
              <a:defRPr sz="1350" b="0">
                <a:solidFill>
                  <a:srgbClr val="DCC697"/>
                </a:solidFill>
                <a:latin typeface="DejaVu Sans"/>
                <a:ea typeface="DejaVu Sans"/>
                <a:cs typeface="DejaVu Sans"/>
              </a:defRPr>
            </a:lvl5pPr>
            <a:lvl6pPr>
              <a:defRPr sz="1350" b="0">
                <a:solidFill>
                  <a:srgbClr val="DCC697"/>
                </a:solidFill>
                <a:latin typeface="DejaVu Sans"/>
                <a:ea typeface="DejaVu Sans"/>
                <a:cs typeface="DejaVu Sans"/>
              </a:defRPr>
            </a:lvl6pPr>
            <a:lvl7pPr>
              <a:defRPr sz="1350" b="0">
                <a:solidFill>
                  <a:srgbClr val="DCC697"/>
                </a:solidFill>
                <a:latin typeface="DejaVu Sans"/>
                <a:ea typeface="DejaVu Sans"/>
                <a:cs typeface="DejaVu Sans"/>
              </a:defRPr>
            </a:lvl7pPr>
            <a:lvl8pPr>
              <a:defRPr sz="1350" b="0">
                <a:solidFill>
                  <a:srgbClr val="DCC697"/>
                </a:solidFill>
                <a:latin typeface="DejaVu Sans"/>
                <a:ea typeface="DejaVu Sans"/>
                <a:cs typeface="DejaVu Sans"/>
              </a:defRPr>
            </a:lvl8pPr>
            <a:lvl9pPr>
              <a:defRPr sz="1350" b="0">
                <a:solidFill>
                  <a:srgbClr val="DCC697"/>
                </a:solidFill>
                <a:latin typeface="DejaVu Sans"/>
                <a:ea typeface="DejaVu Sans"/>
                <a:cs typeface="DejaVu Sans"/>
              </a:defRPr>
            </a:lvl9pPr>
          </a:lstStyle>
          <a:p xmlns:a="http://schemas.openxmlformats.org/drawingml/2006/main">
            <a:pPr>
              <a:defRPr sz="1350" b="0">
                <a:solidFill>
                  <a:srgbClr val="DCC697"/>
                </a:solidFill>
                <a:latin typeface="DejaVu Sans"/>
                <a:ea typeface="DejaVu Sans"/>
                <a:cs typeface="DejaVu Sans"/>
              </a:defRPr>
            </a:pPr>
            <a:r>
              <a:rPr sz="1350" b="0">
                <a:solidFill>
                  <a:srgbClr val="DCC697"/>
                </a:solidFill>
                <a:latin typeface="DejaVu Sans"/>
                <a:ea typeface="DejaVu Sans"/>
                <a:cs typeface="DejaVu Sans"/>
              </a:rPr>
              <a:t>35</a:t>
            </a:r>
          </a:p>
        </p:txBody>
      </p:sp>
      <p:sp>
        <p:nvSpPr>
          <p:cNvPr id="5" name="">
            <a:extLst xmlns:a="http://schemas.openxmlformats.org/drawingml/2006/main">
              <a:ext uri="{FF2B5EF4-FFF2-40B4-BE49-F238E27FC236}">
                <a16:creationId xmlns:a16="http://schemas.microsoft.com/office/drawing/2014/main" id="{5E250388-A431-494E-9CEA-FFF50D8BEFD4}"/>
              </a:ext>
            </a:extLst>
          </p:cNvPr>
          <p:cNvSpPr>
            <a:spLocks xmlns:a="http://schemas.openxmlformats.org/drawingml/2006/main" noGrp="1"/>
          </p:cNvSpPr>
          <p:nvPr/>
        </p:nvSpPr>
        <p:spPr>
          <a:xfrm xmlns:a="http://schemas.openxmlformats.org/drawingml/2006/main">
            <a:off x="647700" y="2524125"/>
            <a:ext cx="1076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0">
                <a:solidFill>
                  <a:srgbClr val="FFFFFF"/>
                </a:solidFill>
                <a:latin typeface="DejaVu Sans"/>
                <a:ea typeface="DejaVu Sans"/>
                <a:cs typeface="DejaVu Sans"/>
              </a:defRPr>
            </a:defPPr>
            <a:lvl1pPr>
              <a:defRPr sz="2850" b="0">
                <a:solidFill>
                  <a:srgbClr val="FFFFFF"/>
                </a:solidFill>
                <a:latin typeface="DejaVu Sans"/>
                <a:ea typeface="DejaVu Sans"/>
                <a:cs typeface="DejaVu Sans"/>
              </a:defRPr>
            </a:lvl1pPr>
            <a:lvl2pPr>
              <a:defRPr sz="2850" b="0">
                <a:solidFill>
                  <a:srgbClr val="FFFFFF"/>
                </a:solidFill>
                <a:latin typeface="DejaVu Sans"/>
                <a:ea typeface="DejaVu Sans"/>
                <a:cs typeface="DejaVu Sans"/>
              </a:defRPr>
            </a:lvl2pPr>
            <a:lvl3pPr>
              <a:defRPr sz="2850" b="0">
                <a:solidFill>
                  <a:srgbClr val="FFFFFF"/>
                </a:solidFill>
                <a:latin typeface="DejaVu Sans"/>
                <a:ea typeface="DejaVu Sans"/>
                <a:cs typeface="DejaVu Sans"/>
              </a:defRPr>
            </a:lvl3pPr>
            <a:lvl4pPr>
              <a:defRPr sz="2850" b="0">
                <a:solidFill>
                  <a:srgbClr val="FFFFFF"/>
                </a:solidFill>
                <a:latin typeface="DejaVu Sans"/>
                <a:ea typeface="DejaVu Sans"/>
                <a:cs typeface="DejaVu Sans"/>
              </a:defRPr>
            </a:lvl4pPr>
            <a:lvl5pPr>
              <a:defRPr sz="2850" b="0">
                <a:solidFill>
                  <a:srgbClr val="FFFFFF"/>
                </a:solidFill>
                <a:latin typeface="DejaVu Sans"/>
                <a:ea typeface="DejaVu Sans"/>
                <a:cs typeface="DejaVu Sans"/>
              </a:defRPr>
            </a:lvl5pPr>
            <a:lvl6pPr>
              <a:defRPr sz="2850" b="0">
                <a:solidFill>
                  <a:srgbClr val="FFFFFF"/>
                </a:solidFill>
                <a:latin typeface="DejaVu Sans"/>
                <a:ea typeface="DejaVu Sans"/>
                <a:cs typeface="DejaVu Sans"/>
              </a:defRPr>
            </a:lvl6pPr>
            <a:lvl7pPr>
              <a:defRPr sz="2850" b="0">
                <a:solidFill>
                  <a:srgbClr val="FFFFFF"/>
                </a:solidFill>
                <a:latin typeface="DejaVu Sans"/>
                <a:ea typeface="DejaVu Sans"/>
                <a:cs typeface="DejaVu Sans"/>
              </a:defRPr>
            </a:lvl7pPr>
            <a:lvl8pPr>
              <a:defRPr sz="2850" b="0">
                <a:solidFill>
                  <a:srgbClr val="FFFFFF"/>
                </a:solidFill>
                <a:latin typeface="DejaVu Sans"/>
                <a:ea typeface="DejaVu Sans"/>
                <a:cs typeface="DejaVu Sans"/>
              </a:defRPr>
            </a:lvl8pPr>
            <a:lvl9pPr>
              <a:defRPr sz="2850" b="0">
                <a:solidFill>
                  <a:srgbClr val="FFFFFF"/>
                </a:solidFill>
                <a:latin typeface="DejaVu Sans"/>
                <a:ea typeface="DejaVu Sans"/>
                <a:cs typeface="DejaVu Sans"/>
              </a:defRPr>
            </a:lvl9pPr>
          </a:lstStyle>
          <a:p xmlns:a="http://schemas.openxmlformats.org/drawingml/2006/main">
            <a:pPr>
              <a:defRPr sz="2850" b="0">
                <a:solidFill>
                  <a:srgbClr val="FFFFFF"/>
                </a:solidFill>
                <a:latin typeface="DejaVu Sans"/>
                <a:ea typeface="DejaVu Sans"/>
                <a:cs typeface="DejaVu Sans"/>
              </a:defRPr>
            </a:pPr>
            <a:r>
              <a:rPr sz="2850" b="0">
                <a:solidFill>
                  <a:srgbClr val="FFFFFF"/>
                </a:solidFill>
                <a:latin typeface="DejaVu Sans"/>
                <a:ea typeface="DejaVu Sans"/>
                <a:cs typeface="DejaVu Sans"/>
              </a:rPr>
              <a:t>Bagaimanakah kefahaman terhadap maksud zikir</a:t>
            </a:r>
          </a:p>
          <a:p xmlns:a="http://schemas.openxmlformats.org/drawingml/2006/main">
            <a:pPr>
              <a:defRPr sz="2850" b="0">
                <a:solidFill>
                  <a:srgbClr val="FFFFFF"/>
                </a:solidFill>
                <a:latin typeface="DejaVu Sans"/>
                <a:ea typeface="DejaVu Sans"/>
                <a:cs typeface="DejaVu Sans"/>
              </a:defRPr>
            </a:pPr>
            <a:r>
              <a:rPr sz="2850" b="0">
                <a:solidFill>
                  <a:srgbClr val="FFFFFF"/>
                </a:solidFill>
                <a:latin typeface="DejaVu Sans"/>
                <a:ea typeface="DejaVu Sans"/>
                <a:cs typeface="DejaVu Sans"/>
              </a:rPr>
              <a:t>dapat menyokong pengamalan yang lebih sedar?</a:t>
            </a:r>
          </a:p>
        </p:txBody>
      </p:sp>
      <p:sp>
        <p:nvSpPr>
          <p:cNvPr id="6" name="">
            <a:extLst xmlns:a="http://schemas.openxmlformats.org/drawingml/2006/main">
              <a:ext uri="{FF2B5EF4-FFF2-40B4-BE49-F238E27FC236}">
                <a16:creationId xmlns:a16="http://schemas.microsoft.com/office/drawing/2014/main" id="{0688AA47-B18F-4EA0-9A52-DD27A416127B}"/>
              </a:ext>
            </a:extLst>
          </p:cNvPr>
          <p:cNvSpPr>
            <a:spLocks xmlns:a="http://schemas.openxmlformats.org/drawingml/2006/main" noGrp="1"/>
          </p:cNvSpPr>
          <p:nvPr/>
        </p:nvSpPr>
        <p:spPr>
          <a:xfrm xmlns:a="http://schemas.openxmlformats.org/drawingml/2006/main">
            <a:off x="647700" y="4810125"/>
            <a:ext cx="10763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DCC697"/>
                </a:solidFill>
                <a:latin typeface="DejaVu Sans"/>
                <a:ea typeface="DejaVu Sans"/>
                <a:cs typeface="DejaVu Sans"/>
              </a:defRPr>
            </a:defPPr>
            <a:lvl1pPr>
              <a:defRPr sz="2025" b="0">
                <a:solidFill>
                  <a:srgbClr val="DCC697"/>
                </a:solidFill>
                <a:latin typeface="DejaVu Sans"/>
                <a:ea typeface="DejaVu Sans"/>
                <a:cs typeface="DejaVu Sans"/>
              </a:defRPr>
            </a:lvl1pPr>
            <a:lvl2pPr>
              <a:defRPr sz="2025" b="0">
                <a:solidFill>
                  <a:srgbClr val="DCC697"/>
                </a:solidFill>
                <a:latin typeface="DejaVu Sans"/>
                <a:ea typeface="DejaVu Sans"/>
                <a:cs typeface="DejaVu Sans"/>
              </a:defRPr>
            </a:lvl2pPr>
            <a:lvl3pPr>
              <a:defRPr sz="2025" b="0">
                <a:solidFill>
                  <a:srgbClr val="DCC697"/>
                </a:solidFill>
                <a:latin typeface="DejaVu Sans"/>
                <a:ea typeface="DejaVu Sans"/>
                <a:cs typeface="DejaVu Sans"/>
              </a:defRPr>
            </a:lvl3pPr>
            <a:lvl4pPr>
              <a:defRPr sz="2025" b="0">
                <a:solidFill>
                  <a:srgbClr val="DCC697"/>
                </a:solidFill>
                <a:latin typeface="DejaVu Sans"/>
                <a:ea typeface="DejaVu Sans"/>
                <a:cs typeface="DejaVu Sans"/>
              </a:defRPr>
            </a:lvl4pPr>
            <a:lvl5pPr>
              <a:defRPr sz="2025" b="0">
                <a:solidFill>
                  <a:srgbClr val="DCC697"/>
                </a:solidFill>
                <a:latin typeface="DejaVu Sans"/>
                <a:ea typeface="DejaVu Sans"/>
                <a:cs typeface="DejaVu Sans"/>
              </a:defRPr>
            </a:lvl5pPr>
            <a:lvl6pPr>
              <a:defRPr sz="2025" b="0">
                <a:solidFill>
                  <a:srgbClr val="DCC697"/>
                </a:solidFill>
                <a:latin typeface="DejaVu Sans"/>
                <a:ea typeface="DejaVu Sans"/>
                <a:cs typeface="DejaVu Sans"/>
              </a:defRPr>
            </a:lvl6pPr>
            <a:lvl7pPr>
              <a:defRPr sz="2025" b="0">
                <a:solidFill>
                  <a:srgbClr val="DCC697"/>
                </a:solidFill>
                <a:latin typeface="DejaVu Sans"/>
                <a:ea typeface="DejaVu Sans"/>
                <a:cs typeface="DejaVu Sans"/>
              </a:defRPr>
            </a:lvl7pPr>
            <a:lvl8pPr>
              <a:defRPr sz="2025" b="0">
                <a:solidFill>
                  <a:srgbClr val="DCC697"/>
                </a:solidFill>
                <a:latin typeface="DejaVu Sans"/>
                <a:ea typeface="DejaVu Sans"/>
                <a:cs typeface="DejaVu Sans"/>
              </a:defRPr>
            </a:lvl8pPr>
            <a:lvl9pPr>
              <a:defRPr sz="2025" b="0">
                <a:solidFill>
                  <a:srgbClr val="DCC697"/>
                </a:solidFill>
                <a:latin typeface="DejaVu Sans"/>
                <a:ea typeface="DejaVu Sans"/>
                <a:cs typeface="DejaVu Sans"/>
              </a:defRPr>
            </a:lvl9pPr>
          </a:lstStyle>
          <a:p xmlns:a="http://schemas.openxmlformats.org/drawingml/2006/main">
            <a:pPr>
              <a:defRPr sz="2025" b="0">
                <a:solidFill>
                  <a:srgbClr val="DCC697"/>
                </a:solidFill>
                <a:latin typeface="DejaVu Sans"/>
                <a:ea typeface="DejaVu Sans"/>
                <a:cs typeface="DejaVu Sans"/>
              </a:defRPr>
            </a:pPr>
            <a:r>
              <a:rPr sz="2025" b="0">
                <a:solidFill>
                  <a:srgbClr val="DCC697"/>
                </a:solidFill>
                <a:latin typeface="DejaVu Sans"/>
                <a:ea typeface="DejaVu Sans"/>
                <a:cs typeface="DejaVu Sans"/>
              </a:rPr>
              <a:t>Sejarah memberi konteks. Sumber memberi asas.</a:t>
            </a:r>
          </a:p>
          <a:p xmlns:a="http://schemas.openxmlformats.org/drawingml/2006/main">
            <a:pPr>
              <a:defRPr sz="2025" b="0">
                <a:solidFill>
                  <a:srgbClr val="DCC697"/>
                </a:solidFill>
                <a:latin typeface="DejaVu Sans"/>
                <a:ea typeface="DejaVu Sans"/>
                <a:cs typeface="DejaVu Sans"/>
              </a:defRPr>
            </a:pPr>
            <a:r>
              <a:rPr sz="2025" b="0">
                <a:solidFill>
                  <a:srgbClr val="DCC697"/>
                </a:solidFill>
                <a:latin typeface="DejaVu Sans"/>
                <a:ea typeface="DejaVu Sans"/>
                <a:cs typeface="DejaVu Sans"/>
              </a:rPr>
              <a:t>Bimbingan membantu kefahaman bacaan.</a:t>
            </a:r>
          </a:p>
        </p:txBody>
      </p:sp>
    </p:spTree>
    <p:extLst>
      <p:ext uri="{BB962C8B-B14F-4D97-AF65-F5344CB8AC3E}">
        <p14:creationId xmlns:p14="http://schemas.microsoft.com/office/powerpoint/2010/main" val="245050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2026-10-17T10:29:45.9150000Z</dcterms:created>
  <dcterms:modified xsi:type="dcterms:W3CDTF">2026-10-17T10:29:45.9150000Z</dcterms:modified>
</coreProperties>
</file>